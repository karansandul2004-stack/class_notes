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619"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7118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and briefly state that this presentation covers the fundamentals of SQL — what it is, its core features, command types, common queries, and real-world applications.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(Structured Query Language) is the standard language for interacting with relational databases. It was developed by IBM in the early 1970s and later standardized by ANSI and ISO. SQL is critical because it provides a consistent way to manage data across systems. Highlight the four leading database systems that use SQL: MySQL, PostgreSQL, Microsoft SQL Server, and Oracle.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SQL's popularity comes from a combination of simplicity and power. It is easy for beginners to pick up, yet standardized enough to work consistently across database platforms. It supports the full lifecycle of data — retrieval and manipulation — while offering security features such as user permissions. Finally, SQL databases can scale to support enterprise-level data volumes.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commands fall into five categories. DDL commands define database structure — CREATE, ALTER, and DROP. DML commands manipulate data — INSERT, UPDATE, DELETE. DQL is used purely for querying data with SELECT. DCL controls access with GRANT and REVOKE. TCL manages transactions using COMMIT, ROLLBACK, and SAVEPOINT.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foundational SQL statements with simple syntax examples: CREATE TABLE defines a new table structure, INSERT INTO adds rows, SELECT retrieves data, UPDATE modifies existing rows, and DELETE removes rows. Emphasize the WHERE clause's role in targeting specific rows for UPDATE and DELETE.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Clauses refine what a query returns: WHERE filters individual rows, ORDER BY sorts the output, GROUP BY groups rows that share a value, and HAVING filters those groups. Aggregate functions then summarize data — COUNT, SUM, AVG, MAX, and MIN are the five most commonly used, often paired with GROUP BY for reporting and analytics.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powers systems across nearly every industry. Banks rely on it for secure, accurate transaction records. E-commerce platforms use it to manage orders, inventory, and customer data. Healthcare systems store patient records, while education platforms track students and courses. Social media platforms manage massive user datasets, and SQL underlies most business intelligence and analytics reporting.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SQL remains the foundational language for relational database management, from simple queries to complex transaction control. As data continues to grow, SQL is evolving alongside cloud platforms and analytics tools, keeping it a vital skill. 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1.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59"/>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123B6B"/>
          </a:solidFill>
          <a:ln/>
        </p:spPr>
      </p:sp>
      <p:sp>
        <p:nvSpPr>
          <p:cNvPr id="3" name="Shape 1"/>
          <p:cNvSpPr/>
          <p:nvPr/>
        </p:nvSpPr>
        <p:spPr>
          <a:xfrm>
            <a:off x="10881360" y="4206240"/>
            <a:ext cx="2926080" cy="2926080"/>
          </a:xfrm>
          <a:prstGeom prst="ellipse">
            <a:avLst/>
          </a:prstGeom>
          <a:solidFill>
            <a:srgbClr val="123B6B"/>
          </a:solidFill>
          <a:ln/>
        </p:spPr>
      </p:sp>
      <p:sp>
        <p:nvSpPr>
          <p:cNvPr id="4" name="Shape 2"/>
          <p:cNvSpPr/>
          <p:nvPr/>
        </p:nvSpPr>
        <p:spPr>
          <a:xfrm>
            <a:off x="-1188720" y="4846320"/>
            <a:ext cx="3291840" cy="3291840"/>
          </a:xfrm>
          <a:prstGeom prst="ellipse">
            <a:avLst/>
          </a:prstGeom>
          <a:solidFill>
            <a:srgbClr val="123B6B"/>
          </a:solidFill>
          <a:ln/>
        </p:spPr>
      </p:sp>
      <p:sp>
        <p:nvSpPr>
          <p:cNvPr id="5" name="Shape 3"/>
          <p:cNvSpPr/>
          <p:nvPr/>
        </p:nvSpPr>
        <p:spPr>
          <a:xfrm>
            <a:off x="868680" y="1051560"/>
            <a:ext cx="1051560" cy="1051560"/>
          </a:xfrm>
          <a:prstGeom prst="ellipse">
            <a:avLst/>
          </a:prstGeom>
          <a:solidFill>
            <a:srgbClr val="2E86DE"/>
          </a:solidFill>
          <a:ln/>
        </p:spPr>
      </p:sp>
      <p:pic>
        <p:nvPicPr>
          <p:cNvPr id="6" name="Image 0" descr="/home/claude/sql_pptx/icons/database_white.png"/>
          <p:cNvPicPr>
            <a:picLocks noChangeAspect="1"/>
          </p:cNvPicPr>
          <p:nvPr/>
        </p:nvPicPr>
        <p:blipFill>
          <a:blip r:embed="rId3"/>
          <a:stretch>
            <a:fillRect/>
          </a:stretch>
        </p:blipFill>
        <p:spPr>
          <a:xfrm>
            <a:off x="1142086" y="1324966"/>
            <a:ext cx="504749" cy="504749"/>
          </a:xfrm>
          <a:prstGeom prst="rect">
            <a:avLst/>
          </a:prstGeom>
        </p:spPr>
      </p:pic>
      <p:sp>
        <p:nvSpPr>
          <p:cNvPr id="7" name="Text 4"/>
          <p:cNvSpPr/>
          <p:nvPr/>
        </p:nvSpPr>
        <p:spPr>
          <a:xfrm>
            <a:off x="548640" y="2331720"/>
            <a:ext cx="9144000" cy="1005840"/>
          </a:xfrm>
          <a:prstGeom prst="rect">
            <a:avLst/>
          </a:prstGeom>
          <a:noFill/>
          <a:ln/>
        </p:spPr>
        <p:txBody>
          <a:bodyPr wrap="square" lIns="0" tIns="0" rIns="0" bIns="0" rtlCol="0" anchor="ctr"/>
          <a:lstStyle/>
          <a:p>
            <a:pPr marL="0" indent="0" algn="l">
              <a:buNone/>
            </a:pPr>
            <a:r>
              <a:rPr lang="en-US" sz="6000" b="1" dirty="0">
                <a:solidFill>
                  <a:srgbClr val="FFFFFF"/>
                </a:solidFill>
                <a:latin typeface="Cambria" pitchFamily="34" charset="0"/>
                <a:ea typeface="Cambria" pitchFamily="34" charset="-122"/>
                <a:cs typeface="Cambria" pitchFamily="34" charset="-120"/>
              </a:rPr>
              <a:t>SQL</a:t>
            </a:r>
            <a:endParaRPr lang="en-US" sz="6000" dirty="0"/>
          </a:p>
        </p:txBody>
      </p:sp>
      <p:sp>
        <p:nvSpPr>
          <p:cNvPr id="8" name="Text 5"/>
          <p:cNvSpPr/>
          <p:nvPr/>
        </p:nvSpPr>
        <p:spPr>
          <a:xfrm>
            <a:off x="548640" y="3246120"/>
            <a:ext cx="9144000" cy="548640"/>
          </a:xfrm>
          <a:prstGeom prst="rect">
            <a:avLst/>
          </a:prstGeom>
          <a:noFill/>
          <a:ln/>
        </p:spPr>
        <p:txBody>
          <a:bodyPr wrap="square" lIns="0" tIns="0" rIns="0" bIns="0" rtlCol="0" anchor="ctr"/>
          <a:lstStyle/>
          <a:p>
            <a:pPr marL="0" indent="0" algn="l">
              <a:buNone/>
            </a:pPr>
            <a:r>
              <a:rPr lang="en-US" sz="2400" i="1" dirty="0">
                <a:solidFill>
                  <a:srgbClr val="CADCFC"/>
                </a:solidFill>
                <a:latin typeface="Cambria" pitchFamily="34" charset="0"/>
                <a:ea typeface="Cambria" pitchFamily="34" charset="-122"/>
                <a:cs typeface="Cambria" pitchFamily="34" charset="-120"/>
              </a:rPr>
              <a:t>Structured Query Language</a:t>
            </a:r>
            <a:endParaRPr lang="en-US" sz="2400" dirty="0"/>
          </a:p>
        </p:txBody>
      </p:sp>
      <p:sp>
        <p:nvSpPr>
          <p:cNvPr id="9" name="Text 6"/>
          <p:cNvSpPr/>
          <p:nvPr/>
        </p:nvSpPr>
        <p:spPr>
          <a:xfrm>
            <a:off x="548640" y="3886200"/>
            <a:ext cx="9144000" cy="411480"/>
          </a:xfrm>
          <a:prstGeom prst="rect">
            <a:avLst/>
          </a:prstGeom>
          <a:noFill/>
          <a:ln/>
        </p:spPr>
        <p:txBody>
          <a:bodyPr wrap="square" lIns="0" tIns="0" rIns="0" bIns="0" rtlCol="0" anchor="ctr"/>
          <a:lstStyle/>
          <a:p>
            <a:pPr marL="0" indent="0" algn="l">
              <a:buNone/>
            </a:pPr>
            <a:r>
              <a:rPr lang="en-US" sz="1600" dirty="0">
                <a:solidFill>
                  <a:srgbClr val="CADCFC"/>
                </a:solidFill>
                <a:latin typeface="Calibri" pitchFamily="34" charset="0"/>
                <a:ea typeface="Calibri" pitchFamily="34" charset="-122"/>
                <a:cs typeface="Calibri" pitchFamily="34" charset="-120"/>
              </a:rPr>
              <a:t>Database Query Language</a:t>
            </a:r>
            <a:endParaRPr lang="en-US" sz="1600" dirty="0"/>
          </a:p>
        </p:txBody>
      </p:sp>
      <p:sp>
        <p:nvSpPr>
          <p:cNvPr id="10" name="Shape 7"/>
          <p:cNvSpPr/>
          <p:nvPr/>
        </p:nvSpPr>
        <p:spPr>
          <a:xfrm>
            <a:off x="566928" y="4617720"/>
            <a:ext cx="2011680" cy="0"/>
          </a:xfrm>
          <a:prstGeom prst="line">
            <a:avLst/>
          </a:prstGeom>
          <a:noFill/>
          <a:ln w="25400">
            <a:solidFill>
              <a:srgbClr val="2E86DE"/>
            </a:solidFill>
            <a:prstDash val="solid"/>
          </a:ln>
        </p:spPr>
      </p:sp>
      <p:sp>
        <p:nvSpPr>
          <p:cNvPr id="11" name="Text 8"/>
          <p:cNvSpPr/>
          <p:nvPr/>
        </p:nvSpPr>
        <p:spPr>
          <a:xfrm>
            <a:off x="548640" y="4846320"/>
            <a:ext cx="7315200" cy="365760"/>
          </a:xfrm>
          <a:prstGeom prst="rect">
            <a:avLst/>
          </a:prstGeom>
          <a:noFill/>
          <a:ln/>
        </p:spPr>
        <p:txBody>
          <a:bodyPr wrap="square" lIns="0" tIns="0" rIns="0" bIns="0" rtlCol="0" anchor="ctr"/>
          <a:lstStyle/>
          <a:p>
            <a:pPr marL="0" indent="0" algn="l">
              <a:buNone/>
            </a:pPr>
            <a:r>
              <a:rPr lang="en-US" sz="2000" dirty="0">
                <a:solidFill>
                  <a:srgbClr val="CADCFC"/>
                </a:solidFill>
                <a:latin typeface="Calibri" pitchFamily="34" charset="0"/>
                <a:ea typeface="Calibri" pitchFamily="34" charset="-122"/>
                <a:cs typeface="Calibri" pitchFamily="34" charset="-120"/>
              </a:rPr>
              <a:t>Presented</a:t>
            </a:r>
            <a:r>
              <a:rPr lang="en-US" sz="1500" dirty="0">
                <a:solidFill>
                  <a:srgbClr val="CADCFC"/>
                </a:solidFill>
                <a:latin typeface="Calibri" pitchFamily="34" charset="0"/>
                <a:ea typeface="Calibri" pitchFamily="34" charset="-122"/>
                <a:cs typeface="Calibri" pitchFamily="34" charset="-120"/>
              </a:rPr>
              <a:t> by:  </a:t>
            </a:r>
            <a:r>
              <a:rPr lang="en-US" sz="1500" b="1" dirty="0">
                <a:solidFill>
                  <a:srgbClr val="FFFFFF"/>
                </a:solidFill>
                <a:latin typeface="Calibri" pitchFamily="34" charset="0"/>
                <a:ea typeface="Calibri" pitchFamily="34" charset="-122"/>
                <a:cs typeface="Calibri" pitchFamily="34" charset="-120"/>
              </a:rPr>
              <a:t>Virrajsinh Mahida</a:t>
            </a:r>
            <a:endParaRPr lang="en-US" sz="1500" dirty="0"/>
          </a:p>
        </p:txBody>
      </p:sp>
      <p:sp>
        <p:nvSpPr>
          <p:cNvPr id="12" name="Text 9"/>
          <p:cNvSpPr/>
          <p:nvPr/>
        </p:nvSpPr>
        <p:spPr>
          <a:xfrm>
            <a:off x="548640" y="5257800"/>
            <a:ext cx="7315200" cy="365760"/>
          </a:xfrm>
          <a:prstGeom prst="rect">
            <a:avLst/>
          </a:prstGeom>
          <a:noFill/>
          <a:ln/>
        </p:spPr>
        <p:txBody>
          <a:bodyPr wrap="square" lIns="0" tIns="0" rIns="0" bIns="0" rtlCol="0" anchor="ctr"/>
          <a:lstStyle/>
          <a:p>
            <a:pPr marL="0" indent="0" algn="l">
              <a:buNone/>
            </a:pPr>
            <a:r>
              <a:rPr lang="en-US" sz="1400" dirty="0">
                <a:solidFill>
                  <a:srgbClr val="CADCFC"/>
                </a:solidFill>
                <a:latin typeface="Calibri" pitchFamily="34" charset="0"/>
                <a:ea typeface="Calibri" pitchFamily="34" charset="-122"/>
                <a:cs typeface="Calibri" pitchFamily="34" charset="-120"/>
              </a:rPr>
              <a:t>August 12,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D"/>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marL="0" indent="0" algn="l">
              <a:buNone/>
            </a:pPr>
            <a:r>
              <a:rPr lang="en-US" sz="3200" b="1" dirty="0">
                <a:solidFill>
                  <a:srgbClr val="16324F"/>
                </a:solidFill>
                <a:latin typeface="Cambria" pitchFamily="34" charset="0"/>
                <a:ea typeface="Cambria" pitchFamily="34" charset="-122"/>
                <a:cs typeface="Cambria" pitchFamily="34" charset="-120"/>
              </a:rPr>
              <a:t>Introduction to SQL</a:t>
            </a:r>
            <a:endParaRPr lang="en-US" sz="3200" dirty="0"/>
          </a:p>
        </p:txBody>
      </p:sp>
      <p:sp>
        <p:nvSpPr>
          <p:cNvPr id="3" name="Shape 1"/>
          <p:cNvSpPr/>
          <p:nvPr/>
        </p:nvSpPr>
        <p:spPr>
          <a:xfrm>
            <a:off x="822960" y="1719072"/>
            <a:ext cx="11064240" cy="960120"/>
          </a:xfrm>
          <a:prstGeom prst="roundRect">
            <a:avLst>
              <a:gd name="adj" fmla="val 9524"/>
            </a:avLst>
          </a:prstGeom>
          <a:solidFill>
            <a:srgbClr val="FFFFFF"/>
          </a:solidFill>
          <a:ln/>
          <a:effectLst>
            <a:outerShdw blurRad="76200" dist="25400" dir="5400000" algn="bl" rotWithShape="0">
              <a:srgbClr val="1B2733">
                <a:alpha val="12000"/>
              </a:srgbClr>
            </a:outerShdw>
          </a:effectLst>
        </p:spPr>
      </p:sp>
      <p:sp>
        <p:nvSpPr>
          <p:cNvPr id="4" name="Shape 2"/>
          <p:cNvSpPr/>
          <p:nvPr/>
        </p:nvSpPr>
        <p:spPr>
          <a:xfrm>
            <a:off x="777240" y="1417320"/>
            <a:ext cx="594360" cy="594360"/>
          </a:xfrm>
          <a:prstGeom prst="ellipse">
            <a:avLst/>
          </a:prstGeom>
          <a:solidFill>
            <a:srgbClr val="2E86DE"/>
          </a:solidFill>
          <a:ln/>
        </p:spPr>
      </p:sp>
      <p:pic>
        <p:nvPicPr>
          <p:cNvPr id="5" name="Image 0" descr="/home/claude/sql_pptx/icons/code_white.png"/>
          <p:cNvPicPr>
            <a:picLocks noChangeAspect="1"/>
          </p:cNvPicPr>
          <p:nvPr/>
        </p:nvPicPr>
        <p:blipFill>
          <a:blip r:embed="rId3"/>
          <a:stretch>
            <a:fillRect/>
          </a:stretch>
        </p:blipFill>
        <p:spPr>
          <a:xfrm>
            <a:off x="931774" y="1571854"/>
            <a:ext cx="285293" cy="285293"/>
          </a:xfrm>
          <a:prstGeom prst="rect">
            <a:avLst/>
          </a:prstGeom>
        </p:spPr>
      </p:pic>
      <p:sp>
        <p:nvSpPr>
          <p:cNvPr id="6" name="Text 3"/>
          <p:cNvSpPr/>
          <p:nvPr/>
        </p:nvSpPr>
        <p:spPr>
          <a:xfrm>
            <a:off x="1600200" y="1325880"/>
            <a:ext cx="9829800" cy="777240"/>
          </a:xfrm>
          <a:prstGeom prst="rect">
            <a:avLst/>
          </a:prstGeom>
          <a:noFill/>
          <a:ln/>
        </p:spPr>
        <p:txBody>
          <a:bodyPr wrap="square" lIns="0" tIns="0" rIns="0" bIns="0" rtlCol="0" anchor="ctr"/>
          <a:lstStyle/>
          <a:p>
            <a:pPr marL="0" indent="0" algn="l">
              <a:buNone/>
            </a:pPr>
            <a:r>
              <a:rPr lang="en-US" b="1" dirty="0">
                <a:solidFill>
                  <a:srgbClr val="16324F"/>
                </a:solidFill>
                <a:latin typeface="Calibri" pitchFamily="34" charset="0"/>
                <a:ea typeface="Calibri" pitchFamily="34" charset="-122"/>
                <a:cs typeface="Calibri" pitchFamily="34" charset="-120"/>
              </a:rPr>
              <a:t>What is SQL?  </a:t>
            </a:r>
            <a:r>
              <a:rPr lang="en-US" dirty="0">
                <a:solidFill>
                  <a:srgbClr val="5C7A99"/>
                </a:solidFill>
                <a:latin typeface="Calibri" pitchFamily="34" charset="0"/>
                <a:ea typeface="Calibri" pitchFamily="34" charset="-122"/>
                <a:cs typeface="Calibri" pitchFamily="34" charset="-120"/>
              </a:rPr>
              <a:t>A standard programming language used to store, retrieve, and manage data in relational databases.</a:t>
            </a:r>
            <a:endParaRPr lang="en-US" dirty="0"/>
          </a:p>
        </p:txBody>
      </p:sp>
      <p:sp>
        <p:nvSpPr>
          <p:cNvPr id="7" name="Shape 4"/>
          <p:cNvSpPr/>
          <p:nvPr/>
        </p:nvSpPr>
        <p:spPr>
          <a:xfrm>
            <a:off x="548640" y="2468880"/>
            <a:ext cx="5394960" cy="1737360"/>
          </a:xfrm>
          <a:prstGeom prst="roundRect">
            <a:avLst>
              <a:gd name="adj" fmla="val 5263"/>
            </a:avLst>
          </a:prstGeom>
          <a:solidFill>
            <a:srgbClr val="FFFFFF"/>
          </a:solidFill>
          <a:ln/>
          <a:effectLst>
            <a:outerShdw blurRad="63500" dist="25400" dir="5400000" algn="bl" rotWithShape="0">
              <a:srgbClr val="1B2733">
                <a:alpha val="10000"/>
              </a:srgbClr>
            </a:outerShdw>
          </a:effectLst>
        </p:spPr>
      </p:sp>
      <p:sp>
        <p:nvSpPr>
          <p:cNvPr id="8" name="Shape 5"/>
          <p:cNvSpPr/>
          <p:nvPr/>
        </p:nvSpPr>
        <p:spPr>
          <a:xfrm>
            <a:off x="822960" y="2743200"/>
            <a:ext cx="548640" cy="548640"/>
          </a:xfrm>
          <a:prstGeom prst="ellipse">
            <a:avLst/>
          </a:prstGeom>
          <a:solidFill>
            <a:srgbClr val="E8F1FB"/>
          </a:solidFill>
          <a:ln/>
        </p:spPr>
      </p:sp>
      <p:pic>
        <p:nvPicPr>
          <p:cNvPr id="9" name="Image 1" descr="/home/claude/sql_pptx/icons/history_blue.png"/>
          <p:cNvPicPr>
            <a:picLocks noChangeAspect="1"/>
          </p:cNvPicPr>
          <p:nvPr/>
        </p:nvPicPr>
        <p:blipFill>
          <a:blip r:embed="rId4"/>
          <a:stretch>
            <a:fillRect/>
          </a:stretch>
        </p:blipFill>
        <p:spPr>
          <a:xfrm>
            <a:off x="965606" y="2885846"/>
            <a:ext cx="263347" cy="263347"/>
          </a:xfrm>
          <a:prstGeom prst="rect">
            <a:avLst/>
          </a:prstGeom>
        </p:spPr>
      </p:pic>
      <p:sp>
        <p:nvSpPr>
          <p:cNvPr id="10" name="Text 6"/>
          <p:cNvSpPr/>
          <p:nvPr/>
        </p:nvSpPr>
        <p:spPr>
          <a:xfrm>
            <a:off x="1508760" y="2724912"/>
            <a:ext cx="4114800" cy="36576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History</a:t>
            </a:r>
            <a:endParaRPr lang="en-US" dirty="0"/>
          </a:p>
        </p:txBody>
      </p:sp>
      <p:sp>
        <p:nvSpPr>
          <p:cNvPr id="11" name="Text 7"/>
          <p:cNvSpPr/>
          <p:nvPr/>
        </p:nvSpPr>
        <p:spPr>
          <a:xfrm>
            <a:off x="822960" y="3154680"/>
            <a:ext cx="4846320" cy="731520"/>
          </a:xfrm>
          <a:prstGeom prst="rect">
            <a:avLst/>
          </a:prstGeom>
          <a:noFill/>
          <a:ln/>
        </p:spPr>
        <p:txBody>
          <a:bodyPr wrap="square" lIns="0" tIns="0" rIns="0" bIns="0" rtlCol="0" anchor="ctr"/>
          <a:lstStyle/>
          <a:p>
            <a:pPr marL="0" indent="0">
              <a:buNone/>
            </a:pPr>
            <a:r>
              <a:rPr lang="en-US" dirty="0">
                <a:solidFill>
                  <a:srgbClr val="5C7A99"/>
                </a:solidFill>
                <a:latin typeface="Calibri" pitchFamily="34" charset="0"/>
                <a:ea typeface="Calibri" pitchFamily="34" charset="-122"/>
                <a:cs typeface="Calibri" pitchFamily="34" charset="-120"/>
              </a:rPr>
              <a:t>Developed by IBM in the 1970s; standardized by ANSI/ISO and adopted industry-wide.</a:t>
            </a:r>
            <a:endParaRPr lang="en-US" dirty="0"/>
          </a:p>
        </p:txBody>
      </p:sp>
      <p:sp>
        <p:nvSpPr>
          <p:cNvPr id="12" name="Shape 8"/>
          <p:cNvSpPr/>
          <p:nvPr/>
        </p:nvSpPr>
        <p:spPr>
          <a:xfrm>
            <a:off x="6217920" y="2468880"/>
            <a:ext cx="5394960" cy="1737360"/>
          </a:xfrm>
          <a:prstGeom prst="roundRect">
            <a:avLst>
              <a:gd name="adj" fmla="val 5263"/>
            </a:avLst>
          </a:prstGeom>
          <a:solidFill>
            <a:srgbClr val="FFFFFF"/>
          </a:solidFill>
          <a:ln/>
          <a:effectLst>
            <a:outerShdw blurRad="63500" dist="25400" dir="5400000" algn="bl" rotWithShape="0">
              <a:srgbClr val="1B2733">
                <a:alpha val="10000"/>
              </a:srgbClr>
            </a:outerShdw>
          </a:effectLst>
        </p:spPr>
      </p:sp>
      <p:sp>
        <p:nvSpPr>
          <p:cNvPr id="13" name="Shape 9"/>
          <p:cNvSpPr/>
          <p:nvPr/>
        </p:nvSpPr>
        <p:spPr>
          <a:xfrm>
            <a:off x="6492240" y="2743200"/>
            <a:ext cx="548640" cy="548640"/>
          </a:xfrm>
          <a:prstGeom prst="ellipse">
            <a:avLst/>
          </a:prstGeom>
          <a:solidFill>
            <a:srgbClr val="E8F1FB"/>
          </a:solidFill>
          <a:ln/>
        </p:spPr>
      </p:sp>
      <p:pic>
        <p:nvPicPr>
          <p:cNvPr id="14" name="Image 2" descr="/home/claude/sql_pptx/icons/shield_blue.png"/>
          <p:cNvPicPr>
            <a:picLocks noChangeAspect="1"/>
          </p:cNvPicPr>
          <p:nvPr/>
        </p:nvPicPr>
        <p:blipFill>
          <a:blip r:embed="rId5"/>
          <a:stretch>
            <a:fillRect/>
          </a:stretch>
        </p:blipFill>
        <p:spPr>
          <a:xfrm>
            <a:off x="6634886" y="2885846"/>
            <a:ext cx="263347" cy="263347"/>
          </a:xfrm>
          <a:prstGeom prst="rect">
            <a:avLst/>
          </a:prstGeom>
        </p:spPr>
      </p:pic>
      <p:sp>
        <p:nvSpPr>
          <p:cNvPr id="15" name="Text 10"/>
          <p:cNvSpPr/>
          <p:nvPr/>
        </p:nvSpPr>
        <p:spPr>
          <a:xfrm>
            <a:off x="7178040" y="2724912"/>
            <a:ext cx="4297680" cy="36576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Why It Matters</a:t>
            </a:r>
            <a:endParaRPr lang="en-US" dirty="0"/>
          </a:p>
        </p:txBody>
      </p:sp>
      <p:sp>
        <p:nvSpPr>
          <p:cNvPr id="16" name="Text 11"/>
          <p:cNvSpPr/>
          <p:nvPr/>
        </p:nvSpPr>
        <p:spPr>
          <a:xfrm>
            <a:off x="6492240" y="3154680"/>
            <a:ext cx="4937760" cy="731520"/>
          </a:xfrm>
          <a:prstGeom prst="rect">
            <a:avLst/>
          </a:prstGeom>
          <a:noFill/>
          <a:ln/>
        </p:spPr>
        <p:txBody>
          <a:bodyPr wrap="square" lIns="0" tIns="0" rIns="0" bIns="0" rtlCol="0" anchor="ctr"/>
          <a:lstStyle/>
          <a:p>
            <a:pPr marL="0" indent="0">
              <a:buNone/>
            </a:pPr>
            <a:r>
              <a:rPr lang="en-US" dirty="0">
                <a:solidFill>
                  <a:srgbClr val="5C7A99"/>
                </a:solidFill>
                <a:latin typeface="Calibri" pitchFamily="34" charset="0"/>
                <a:ea typeface="Calibri" pitchFamily="34" charset="-122"/>
                <a:cs typeface="Calibri" pitchFamily="34" charset="-120"/>
              </a:rPr>
              <a:t>The backbone of database management — powers reliable data storage across virtually every industry.</a:t>
            </a:r>
            <a:endParaRPr lang="en-US" dirty="0"/>
          </a:p>
        </p:txBody>
      </p:sp>
      <p:sp>
        <p:nvSpPr>
          <p:cNvPr id="17" name="Text 12"/>
          <p:cNvSpPr/>
          <p:nvPr/>
        </p:nvSpPr>
        <p:spPr>
          <a:xfrm>
            <a:off x="548640" y="4480560"/>
            <a:ext cx="731520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Popular Database Systems</a:t>
            </a:r>
            <a:endParaRPr lang="en-US" dirty="0"/>
          </a:p>
        </p:txBody>
      </p:sp>
      <p:sp>
        <p:nvSpPr>
          <p:cNvPr id="18" name="Shape 13"/>
          <p:cNvSpPr/>
          <p:nvPr/>
        </p:nvSpPr>
        <p:spPr>
          <a:xfrm>
            <a:off x="548640" y="4892040"/>
            <a:ext cx="2606040" cy="1417320"/>
          </a:xfrm>
          <a:prstGeom prst="roundRect">
            <a:avLst>
              <a:gd name="adj" fmla="val 5161"/>
            </a:avLst>
          </a:prstGeom>
          <a:solidFill>
            <a:srgbClr val="0B2E59"/>
          </a:solidFill>
          <a:ln/>
        </p:spPr>
      </p:sp>
      <p:sp>
        <p:nvSpPr>
          <p:cNvPr id="19" name="Shape 14"/>
          <p:cNvSpPr/>
          <p:nvPr/>
        </p:nvSpPr>
        <p:spPr>
          <a:xfrm>
            <a:off x="1531620" y="5148072"/>
            <a:ext cx="640080" cy="640080"/>
          </a:xfrm>
          <a:prstGeom prst="ellipse">
            <a:avLst/>
          </a:prstGeom>
          <a:solidFill>
            <a:srgbClr val="2E86DE"/>
          </a:solidFill>
          <a:ln/>
        </p:spPr>
      </p:sp>
      <p:pic>
        <p:nvPicPr>
          <p:cNvPr id="20" name="Image 3" descr="/home/claude/sql_pptx/icons/server_white.png"/>
          <p:cNvPicPr>
            <a:picLocks noChangeAspect="1"/>
          </p:cNvPicPr>
          <p:nvPr/>
        </p:nvPicPr>
        <p:blipFill>
          <a:blip r:embed="rId6"/>
          <a:stretch>
            <a:fillRect/>
          </a:stretch>
        </p:blipFill>
        <p:spPr>
          <a:xfrm>
            <a:off x="1698041" y="5314493"/>
            <a:ext cx="307238" cy="307238"/>
          </a:xfrm>
          <a:prstGeom prst="rect">
            <a:avLst/>
          </a:prstGeom>
        </p:spPr>
      </p:pic>
      <p:sp>
        <p:nvSpPr>
          <p:cNvPr id="21" name="Text 15"/>
          <p:cNvSpPr/>
          <p:nvPr/>
        </p:nvSpPr>
        <p:spPr>
          <a:xfrm>
            <a:off x="685800" y="5879592"/>
            <a:ext cx="23317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MySQL</a:t>
            </a:r>
            <a:endParaRPr lang="en-US" sz="1400" dirty="0"/>
          </a:p>
        </p:txBody>
      </p:sp>
      <p:sp>
        <p:nvSpPr>
          <p:cNvPr id="22" name="Shape 16"/>
          <p:cNvSpPr/>
          <p:nvPr/>
        </p:nvSpPr>
        <p:spPr>
          <a:xfrm>
            <a:off x="3374136" y="4892040"/>
            <a:ext cx="2606040" cy="1417320"/>
          </a:xfrm>
          <a:prstGeom prst="roundRect">
            <a:avLst>
              <a:gd name="adj" fmla="val 5161"/>
            </a:avLst>
          </a:prstGeom>
          <a:solidFill>
            <a:srgbClr val="0B2E59"/>
          </a:solidFill>
          <a:ln/>
        </p:spPr>
      </p:sp>
      <p:sp>
        <p:nvSpPr>
          <p:cNvPr id="23" name="Shape 17"/>
          <p:cNvSpPr/>
          <p:nvPr/>
        </p:nvSpPr>
        <p:spPr>
          <a:xfrm>
            <a:off x="4357116" y="5148072"/>
            <a:ext cx="640080" cy="640080"/>
          </a:xfrm>
          <a:prstGeom prst="ellipse">
            <a:avLst/>
          </a:prstGeom>
          <a:solidFill>
            <a:srgbClr val="2E86DE"/>
          </a:solidFill>
          <a:ln/>
        </p:spPr>
      </p:sp>
      <p:pic>
        <p:nvPicPr>
          <p:cNvPr id="24" name="Image 4" descr="/home/claude/sql_pptx/icons/server_white.png"/>
          <p:cNvPicPr>
            <a:picLocks noChangeAspect="1"/>
          </p:cNvPicPr>
          <p:nvPr/>
        </p:nvPicPr>
        <p:blipFill>
          <a:blip r:embed="rId6"/>
          <a:stretch>
            <a:fillRect/>
          </a:stretch>
        </p:blipFill>
        <p:spPr>
          <a:xfrm>
            <a:off x="4523537" y="5314493"/>
            <a:ext cx="307238" cy="307238"/>
          </a:xfrm>
          <a:prstGeom prst="rect">
            <a:avLst/>
          </a:prstGeom>
        </p:spPr>
      </p:pic>
      <p:sp>
        <p:nvSpPr>
          <p:cNvPr id="25" name="Text 18"/>
          <p:cNvSpPr/>
          <p:nvPr/>
        </p:nvSpPr>
        <p:spPr>
          <a:xfrm>
            <a:off x="3511296" y="5879592"/>
            <a:ext cx="23317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PostgreSQL</a:t>
            </a:r>
            <a:endParaRPr lang="en-US" sz="1400" dirty="0"/>
          </a:p>
        </p:txBody>
      </p:sp>
      <p:sp>
        <p:nvSpPr>
          <p:cNvPr id="26" name="Shape 19"/>
          <p:cNvSpPr/>
          <p:nvPr/>
        </p:nvSpPr>
        <p:spPr>
          <a:xfrm>
            <a:off x="6199632" y="4892040"/>
            <a:ext cx="2606040" cy="1417320"/>
          </a:xfrm>
          <a:prstGeom prst="roundRect">
            <a:avLst>
              <a:gd name="adj" fmla="val 5161"/>
            </a:avLst>
          </a:prstGeom>
          <a:solidFill>
            <a:srgbClr val="0B2E59"/>
          </a:solidFill>
          <a:ln/>
        </p:spPr>
      </p:sp>
      <p:sp>
        <p:nvSpPr>
          <p:cNvPr id="27" name="Shape 20"/>
          <p:cNvSpPr/>
          <p:nvPr/>
        </p:nvSpPr>
        <p:spPr>
          <a:xfrm>
            <a:off x="7182612" y="5148072"/>
            <a:ext cx="640080" cy="640080"/>
          </a:xfrm>
          <a:prstGeom prst="ellipse">
            <a:avLst/>
          </a:prstGeom>
          <a:solidFill>
            <a:srgbClr val="2E86DE"/>
          </a:solidFill>
          <a:ln/>
        </p:spPr>
      </p:sp>
      <p:pic>
        <p:nvPicPr>
          <p:cNvPr id="28" name="Image 5" descr="/home/claude/sql_pptx/icons/server_white.png"/>
          <p:cNvPicPr>
            <a:picLocks noChangeAspect="1"/>
          </p:cNvPicPr>
          <p:nvPr/>
        </p:nvPicPr>
        <p:blipFill>
          <a:blip r:embed="rId6"/>
          <a:stretch>
            <a:fillRect/>
          </a:stretch>
        </p:blipFill>
        <p:spPr>
          <a:xfrm>
            <a:off x="7349033" y="5314493"/>
            <a:ext cx="307238" cy="307238"/>
          </a:xfrm>
          <a:prstGeom prst="rect">
            <a:avLst/>
          </a:prstGeom>
        </p:spPr>
      </p:pic>
      <p:sp>
        <p:nvSpPr>
          <p:cNvPr id="29" name="Text 21"/>
          <p:cNvSpPr/>
          <p:nvPr/>
        </p:nvSpPr>
        <p:spPr>
          <a:xfrm>
            <a:off x="6336792" y="5879592"/>
            <a:ext cx="23317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SQL Server</a:t>
            </a:r>
            <a:endParaRPr lang="en-US" sz="1400" dirty="0"/>
          </a:p>
        </p:txBody>
      </p:sp>
      <p:sp>
        <p:nvSpPr>
          <p:cNvPr id="30" name="Shape 22"/>
          <p:cNvSpPr/>
          <p:nvPr/>
        </p:nvSpPr>
        <p:spPr>
          <a:xfrm>
            <a:off x="9025128" y="4892040"/>
            <a:ext cx="2606040" cy="1417320"/>
          </a:xfrm>
          <a:prstGeom prst="roundRect">
            <a:avLst>
              <a:gd name="adj" fmla="val 5161"/>
            </a:avLst>
          </a:prstGeom>
          <a:solidFill>
            <a:srgbClr val="0B2E59"/>
          </a:solidFill>
          <a:ln/>
        </p:spPr>
      </p:sp>
      <p:sp>
        <p:nvSpPr>
          <p:cNvPr id="31" name="Shape 23"/>
          <p:cNvSpPr/>
          <p:nvPr/>
        </p:nvSpPr>
        <p:spPr>
          <a:xfrm>
            <a:off x="10008108" y="5148072"/>
            <a:ext cx="640080" cy="640080"/>
          </a:xfrm>
          <a:prstGeom prst="ellipse">
            <a:avLst/>
          </a:prstGeom>
          <a:solidFill>
            <a:srgbClr val="2E86DE"/>
          </a:solidFill>
          <a:ln/>
        </p:spPr>
      </p:sp>
      <p:pic>
        <p:nvPicPr>
          <p:cNvPr id="32" name="Image 6" descr="/home/claude/sql_pptx/icons/server_white.png"/>
          <p:cNvPicPr>
            <a:picLocks noChangeAspect="1"/>
          </p:cNvPicPr>
          <p:nvPr/>
        </p:nvPicPr>
        <p:blipFill>
          <a:blip r:embed="rId6"/>
          <a:stretch>
            <a:fillRect/>
          </a:stretch>
        </p:blipFill>
        <p:spPr>
          <a:xfrm>
            <a:off x="10174529" y="5314493"/>
            <a:ext cx="307238" cy="307238"/>
          </a:xfrm>
          <a:prstGeom prst="rect">
            <a:avLst/>
          </a:prstGeom>
        </p:spPr>
      </p:pic>
      <p:sp>
        <p:nvSpPr>
          <p:cNvPr id="33" name="Text 24"/>
          <p:cNvSpPr/>
          <p:nvPr/>
        </p:nvSpPr>
        <p:spPr>
          <a:xfrm>
            <a:off x="9162288" y="5879592"/>
            <a:ext cx="23317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Oracle</a:t>
            </a:r>
            <a:endParaRPr lang="en-US" sz="1400" dirty="0"/>
          </a:p>
        </p:txBody>
      </p:sp>
      <p:sp>
        <p:nvSpPr>
          <p:cNvPr id="34" name="Text 25"/>
          <p:cNvSpPr/>
          <p:nvPr/>
        </p:nvSpPr>
        <p:spPr>
          <a:xfrm>
            <a:off x="457200" y="6537960"/>
            <a:ext cx="5486400" cy="274320"/>
          </a:xfrm>
          <a:prstGeom prst="rect">
            <a:avLst/>
          </a:prstGeom>
          <a:noFill/>
          <a:ln/>
        </p:spPr>
        <p:txBody>
          <a:bodyPr wrap="square" lIns="0" tIns="0" rIns="0" bIns="0"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SQL — Structured Query Language</a:t>
            </a:r>
            <a:endParaRPr lang="en-US" sz="900" dirty="0"/>
          </a:p>
        </p:txBody>
      </p:sp>
      <p:sp>
        <p:nvSpPr>
          <p:cNvPr id="35" name="Text 2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D"/>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marL="0" indent="0" algn="l">
              <a:buNone/>
            </a:pPr>
            <a:r>
              <a:rPr lang="en-US" sz="3200" b="1" dirty="0">
                <a:solidFill>
                  <a:srgbClr val="16324F"/>
                </a:solidFill>
                <a:latin typeface="Cambria" pitchFamily="34" charset="0"/>
                <a:ea typeface="Cambria" pitchFamily="34" charset="-122"/>
                <a:cs typeface="Cambria" pitchFamily="34" charset="-120"/>
              </a:rPr>
              <a:t>Features of SQL</a:t>
            </a:r>
            <a:endParaRPr lang="en-US" sz="3200" dirty="0"/>
          </a:p>
        </p:txBody>
      </p:sp>
      <p:sp>
        <p:nvSpPr>
          <p:cNvPr id="3" name="Shape 1"/>
          <p:cNvSpPr/>
          <p:nvPr/>
        </p:nvSpPr>
        <p:spPr>
          <a:xfrm>
            <a:off x="548640" y="1417320"/>
            <a:ext cx="5394960" cy="1261872"/>
          </a:xfrm>
          <a:prstGeom prst="roundRect">
            <a:avLst>
              <a:gd name="adj" fmla="val 6522"/>
            </a:avLst>
          </a:prstGeom>
          <a:solidFill>
            <a:srgbClr val="FFFFFF"/>
          </a:solidFill>
          <a:ln/>
          <a:effectLst>
            <a:outerShdw blurRad="63500" dist="25400" dir="5400000" algn="bl" rotWithShape="0">
              <a:srgbClr val="1B2733">
                <a:alpha val="10000"/>
              </a:srgbClr>
            </a:outerShdw>
          </a:effectLst>
        </p:spPr>
      </p:sp>
      <p:sp>
        <p:nvSpPr>
          <p:cNvPr id="4" name="Shape 2"/>
          <p:cNvSpPr/>
          <p:nvPr/>
        </p:nvSpPr>
        <p:spPr>
          <a:xfrm>
            <a:off x="749808" y="1755648"/>
            <a:ext cx="594360" cy="594360"/>
          </a:xfrm>
          <a:prstGeom prst="ellipse">
            <a:avLst/>
          </a:prstGeom>
          <a:solidFill>
            <a:srgbClr val="E8F1FB"/>
          </a:solidFill>
          <a:ln/>
        </p:spPr>
      </p:sp>
      <p:pic>
        <p:nvPicPr>
          <p:cNvPr id="5" name="Image 0" descr="/home/claude/sql_pptx/icons/checkcircle_blue.png"/>
          <p:cNvPicPr>
            <a:picLocks noChangeAspect="1"/>
          </p:cNvPicPr>
          <p:nvPr/>
        </p:nvPicPr>
        <p:blipFill>
          <a:blip r:embed="rId3"/>
          <a:stretch>
            <a:fillRect/>
          </a:stretch>
        </p:blipFill>
        <p:spPr>
          <a:xfrm>
            <a:off x="904342" y="1910182"/>
            <a:ext cx="285293" cy="285293"/>
          </a:xfrm>
          <a:prstGeom prst="rect">
            <a:avLst/>
          </a:prstGeom>
        </p:spPr>
      </p:pic>
      <p:sp>
        <p:nvSpPr>
          <p:cNvPr id="6" name="Text 3"/>
          <p:cNvSpPr/>
          <p:nvPr/>
        </p:nvSpPr>
        <p:spPr>
          <a:xfrm>
            <a:off x="1554480" y="1618488"/>
            <a:ext cx="420624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Easy to Learn</a:t>
            </a:r>
            <a:endParaRPr lang="en-US" dirty="0"/>
          </a:p>
        </p:txBody>
      </p:sp>
      <p:sp>
        <p:nvSpPr>
          <p:cNvPr id="7" name="Text 4"/>
          <p:cNvSpPr/>
          <p:nvPr/>
        </p:nvSpPr>
        <p:spPr>
          <a:xfrm>
            <a:off x="1554480" y="1984248"/>
            <a:ext cx="4206240" cy="594360"/>
          </a:xfrm>
          <a:prstGeom prst="rect">
            <a:avLst/>
          </a:prstGeom>
          <a:noFill/>
          <a:ln/>
        </p:spPr>
        <p:txBody>
          <a:bodyPr wrap="square" lIns="0" tIns="0" rIns="0" bIns="0" rtlCol="0" anchor="ctr"/>
          <a:lstStyle/>
          <a:p>
            <a:pPr marL="0" indent="0">
              <a:buNone/>
            </a:pPr>
            <a:r>
              <a:rPr lang="en-US" sz="1600" dirty="0">
                <a:solidFill>
                  <a:srgbClr val="5C7A99"/>
                </a:solidFill>
                <a:latin typeface="Calibri" pitchFamily="34" charset="0"/>
                <a:ea typeface="Calibri" pitchFamily="34" charset="-122"/>
                <a:cs typeface="Calibri" pitchFamily="34" charset="-120"/>
              </a:rPr>
              <a:t>Simple, English-like syntax makes SQL approachable for beginners.</a:t>
            </a:r>
            <a:endParaRPr lang="en-US" sz="1600" dirty="0"/>
          </a:p>
        </p:txBody>
      </p:sp>
      <p:sp>
        <p:nvSpPr>
          <p:cNvPr id="8" name="Shape 5"/>
          <p:cNvSpPr/>
          <p:nvPr/>
        </p:nvSpPr>
        <p:spPr>
          <a:xfrm>
            <a:off x="548640" y="2880360"/>
            <a:ext cx="5394960" cy="1261872"/>
          </a:xfrm>
          <a:prstGeom prst="roundRect">
            <a:avLst>
              <a:gd name="adj" fmla="val 6522"/>
            </a:avLst>
          </a:prstGeom>
          <a:solidFill>
            <a:srgbClr val="FFFFFF"/>
          </a:solidFill>
          <a:ln/>
          <a:effectLst>
            <a:outerShdw blurRad="63500" dist="25400" dir="5400000" algn="bl" rotWithShape="0">
              <a:srgbClr val="1B2733">
                <a:alpha val="10000"/>
              </a:srgbClr>
            </a:outerShdw>
          </a:effectLst>
        </p:spPr>
        <p:txBody>
          <a:bodyPr/>
          <a:lstStyle/>
          <a:p>
            <a:endParaRPr lang="en-IN" dirty="0"/>
          </a:p>
        </p:txBody>
      </p:sp>
      <p:sp>
        <p:nvSpPr>
          <p:cNvPr id="9" name="Shape 6"/>
          <p:cNvSpPr/>
          <p:nvPr/>
        </p:nvSpPr>
        <p:spPr>
          <a:xfrm>
            <a:off x="749808" y="3218688"/>
            <a:ext cx="594360" cy="594360"/>
          </a:xfrm>
          <a:prstGeom prst="ellipse">
            <a:avLst/>
          </a:prstGeom>
          <a:solidFill>
            <a:srgbClr val="E8F1FB"/>
          </a:solidFill>
          <a:ln/>
        </p:spPr>
      </p:sp>
      <p:pic>
        <p:nvPicPr>
          <p:cNvPr id="10" name="Image 1" descr="/home/claude/sql_pptx/icons/book_blue.png"/>
          <p:cNvPicPr>
            <a:picLocks noChangeAspect="1"/>
          </p:cNvPicPr>
          <p:nvPr/>
        </p:nvPicPr>
        <p:blipFill>
          <a:blip r:embed="rId4"/>
          <a:stretch>
            <a:fillRect/>
          </a:stretch>
        </p:blipFill>
        <p:spPr>
          <a:xfrm>
            <a:off x="904342" y="3373222"/>
            <a:ext cx="285293" cy="285293"/>
          </a:xfrm>
          <a:prstGeom prst="rect">
            <a:avLst/>
          </a:prstGeom>
        </p:spPr>
      </p:pic>
      <p:sp>
        <p:nvSpPr>
          <p:cNvPr id="11" name="Text 7"/>
          <p:cNvSpPr/>
          <p:nvPr/>
        </p:nvSpPr>
        <p:spPr>
          <a:xfrm>
            <a:off x="1554480" y="3081528"/>
            <a:ext cx="420624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Standard Language</a:t>
            </a:r>
            <a:endParaRPr lang="en-US" dirty="0"/>
          </a:p>
        </p:txBody>
      </p:sp>
      <p:sp>
        <p:nvSpPr>
          <p:cNvPr id="12" name="Text 8"/>
          <p:cNvSpPr/>
          <p:nvPr/>
        </p:nvSpPr>
        <p:spPr>
          <a:xfrm>
            <a:off x="1554480" y="3447288"/>
            <a:ext cx="4206240" cy="594360"/>
          </a:xfrm>
          <a:prstGeom prst="rect">
            <a:avLst/>
          </a:prstGeom>
          <a:noFill/>
          <a:ln/>
        </p:spPr>
        <p:txBody>
          <a:bodyPr wrap="square" lIns="0" tIns="0" rIns="0" bIns="0" rtlCol="0" anchor="ctr"/>
          <a:lstStyle/>
          <a:p>
            <a:pPr marL="0" indent="0">
              <a:buNone/>
            </a:pPr>
            <a:r>
              <a:rPr lang="en-US" sz="1600" dirty="0">
                <a:solidFill>
                  <a:srgbClr val="5C7A99"/>
                </a:solidFill>
                <a:latin typeface="Calibri" pitchFamily="34" charset="0"/>
                <a:ea typeface="Calibri" pitchFamily="34" charset="-122"/>
                <a:cs typeface="Calibri" pitchFamily="34" charset="-120"/>
              </a:rPr>
              <a:t>A universal standard supported across all major database systems.</a:t>
            </a:r>
            <a:endParaRPr lang="en-US" sz="1600" dirty="0"/>
          </a:p>
        </p:txBody>
      </p:sp>
      <p:sp>
        <p:nvSpPr>
          <p:cNvPr id="13" name="Shape 9"/>
          <p:cNvSpPr/>
          <p:nvPr/>
        </p:nvSpPr>
        <p:spPr>
          <a:xfrm>
            <a:off x="548640" y="4343400"/>
            <a:ext cx="5394960" cy="1261872"/>
          </a:xfrm>
          <a:prstGeom prst="roundRect">
            <a:avLst>
              <a:gd name="adj" fmla="val 6522"/>
            </a:avLst>
          </a:prstGeom>
          <a:solidFill>
            <a:srgbClr val="FFFFFF"/>
          </a:solidFill>
          <a:ln/>
          <a:effectLst>
            <a:outerShdw blurRad="63500" dist="25400" dir="5400000" algn="bl" rotWithShape="0">
              <a:srgbClr val="1B2733">
                <a:alpha val="10000"/>
              </a:srgbClr>
            </a:outerShdw>
          </a:effectLst>
        </p:spPr>
      </p:sp>
      <p:sp>
        <p:nvSpPr>
          <p:cNvPr id="14" name="Shape 10"/>
          <p:cNvSpPr/>
          <p:nvPr/>
        </p:nvSpPr>
        <p:spPr>
          <a:xfrm>
            <a:off x="749808" y="4681728"/>
            <a:ext cx="594360" cy="594360"/>
          </a:xfrm>
          <a:prstGeom prst="ellipse">
            <a:avLst/>
          </a:prstGeom>
          <a:solidFill>
            <a:srgbClr val="E8F1FB"/>
          </a:solidFill>
          <a:ln/>
        </p:spPr>
      </p:sp>
      <p:pic>
        <p:nvPicPr>
          <p:cNvPr id="15" name="Image 2" descr="/home/claude/sql_pptx/icons/exchange_blue.png"/>
          <p:cNvPicPr>
            <a:picLocks noChangeAspect="1"/>
          </p:cNvPicPr>
          <p:nvPr/>
        </p:nvPicPr>
        <p:blipFill>
          <a:blip r:embed="rId5"/>
          <a:stretch>
            <a:fillRect/>
          </a:stretch>
        </p:blipFill>
        <p:spPr>
          <a:xfrm>
            <a:off x="904342" y="4836262"/>
            <a:ext cx="285293" cy="285293"/>
          </a:xfrm>
          <a:prstGeom prst="rect">
            <a:avLst/>
          </a:prstGeom>
        </p:spPr>
      </p:pic>
      <p:sp>
        <p:nvSpPr>
          <p:cNvPr id="16" name="Text 11"/>
          <p:cNvSpPr/>
          <p:nvPr/>
        </p:nvSpPr>
        <p:spPr>
          <a:xfrm>
            <a:off x="1554480" y="4544568"/>
            <a:ext cx="420624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Data Retrieval &amp; Manipulation</a:t>
            </a:r>
            <a:endParaRPr lang="en-US" dirty="0"/>
          </a:p>
        </p:txBody>
      </p:sp>
      <p:sp>
        <p:nvSpPr>
          <p:cNvPr id="17" name="Text 12"/>
          <p:cNvSpPr/>
          <p:nvPr/>
        </p:nvSpPr>
        <p:spPr>
          <a:xfrm>
            <a:off x="1554480" y="4910328"/>
            <a:ext cx="4206240" cy="594360"/>
          </a:xfrm>
          <a:prstGeom prst="rect">
            <a:avLst/>
          </a:prstGeom>
          <a:noFill/>
          <a:ln/>
        </p:spPr>
        <p:txBody>
          <a:bodyPr wrap="square" lIns="0" tIns="0" rIns="0" bIns="0" rtlCol="0" anchor="ctr"/>
          <a:lstStyle/>
          <a:p>
            <a:pPr marL="0" indent="0">
              <a:buNone/>
            </a:pPr>
            <a:r>
              <a:rPr lang="en-US" sz="1600" dirty="0">
                <a:solidFill>
                  <a:srgbClr val="5C7A99"/>
                </a:solidFill>
                <a:latin typeface="Calibri" pitchFamily="34" charset="0"/>
                <a:ea typeface="Calibri" pitchFamily="34" charset="-122"/>
                <a:cs typeface="Calibri" pitchFamily="34" charset="-120"/>
              </a:rPr>
              <a:t>Efficiently query, insert, update, and delete records.</a:t>
            </a:r>
            <a:endParaRPr lang="en-US" sz="1600" dirty="0"/>
          </a:p>
        </p:txBody>
      </p:sp>
      <p:sp>
        <p:nvSpPr>
          <p:cNvPr id="18" name="Shape 13"/>
          <p:cNvSpPr/>
          <p:nvPr/>
        </p:nvSpPr>
        <p:spPr>
          <a:xfrm>
            <a:off x="6217920" y="1417320"/>
            <a:ext cx="5394960" cy="1261872"/>
          </a:xfrm>
          <a:prstGeom prst="roundRect">
            <a:avLst>
              <a:gd name="adj" fmla="val 6522"/>
            </a:avLst>
          </a:prstGeom>
          <a:solidFill>
            <a:srgbClr val="FFFFFF"/>
          </a:solidFill>
          <a:ln/>
          <a:effectLst>
            <a:outerShdw blurRad="63500" dist="25400" dir="5400000" algn="bl" rotWithShape="0">
              <a:srgbClr val="1B2733">
                <a:alpha val="10000"/>
              </a:srgbClr>
            </a:outerShdw>
          </a:effectLst>
        </p:spPr>
      </p:sp>
      <p:sp>
        <p:nvSpPr>
          <p:cNvPr id="19" name="Shape 14"/>
          <p:cNvSpPr/>
          <p:nvPr/>
        </p:nvSpPr>
        <p:spPr>
          <a:xfrm>
            <a:off x="6419088" y="1755648"/>
            <a:ext cx="594360" cy="594360"/>
          </a:xfrm>
          <a:prstGeom prst="ellipse">
            <a:avLst/>
          </a:prstGeom>
          <a:solidFill>
            <a:srgbClr val="E8F1FB"/>
          </a:solidFill>
          <a:ln/>
        </p:spPr>
      </p:sp>
      <p:pic>
        <p:nvPicPr>
          <p:cNvPr id="20" name="Image 3" descr="/home/claude/sql_pptx/icons/lock_blue.png"/>
          <p:cNvPicPr>
            <a:picLocks noChangeAspect="1"/>
          </p:cNvPicPr>
          <p:nvPr/>
        </p:nvPicPr>
        <p:blipFill>
          <a:blip r:embed="rId6"/>
          <a:stretch>
            <a:fillRect/>
          </a:stretch>
        </p:blipFill>
        <p:spPr>
          <a:xfrm>
            <a:off x="6573622" y="1910182"/>
            <a:ext cx="285293" cy="285293"/>
          </a:xfrm>
          <a:prstGeom prst="rect">
            <a:avLst/>
          </a:prstGeom>
        </p:spPr>
      </p:pic>
      <p:sp>
        <p:nvSpPr>
          <p:cNvPr id="21" name="Text 15"/>
          <p:cNvSpPr/>
          <p:nvPr/>
        </p:nvSpPr>
        <p:spPr>
          <a:xfrm>
            <a:off x="7223760" y="1618488"/>
            <a:ext cx="420624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Security &amp; Access Control</a:t>
            </a:r>
            <a:endParaRPr lang="en-US" dirty="0"/>
          </a:p>
        </p:txBody>
      </p:sp>
      <p:sp>
        <p:nvSpPr>
          <p:cNvPr id="22" name="Text 16"/>
          <p:cNvSpPr/>
          <p:nvPr/>
        </p:nvSpPr>
        <p:spPr>
          <a:xfrm>
            <a:off x="7223760" y="1984248"/>
            <a:ext cx="4206240" cy="594360"/>
          </a:xfrm>
          <a:prstGeom prst="rect">
            <a:avLst/>
          </a:prstGeom>
          <a:noFill/>
          <a:ln/>
        </p:spPr>
        <p:txBody>
          <a:bodyPr wrap="square" lIns="0" tIns="0" rIns="0" bIns="0" rtlCol="0" anchor="ctr"/>
          <a:lstStyle/>
          <a:p>
            <a:pPr marL="0" indent="0">
              <a:buNone/>
            </a:pPr>
            <a:r>
              <a:rPr lang="en-US" sz="1600" dirty="0">
                <a:solidFill>
                  <a:srgbClr val="5C7A99"/>
                </a:solidFill>
                <a:latin typeface="Calibri" pitchFamily="34" charset="0"/>
                <a:ea typeface="Calibri" pitchFamily="34" charset="-122"/>
                <a:cs typeface="Calibri" pitchFamily="34" charset="-120"/>
              </a:rPr>
              <a:t>Built-in permissions govern who can view or change data.</a:t>
            </a:r>
            <a:endParaRPr lang="en-US" sz="1600" dirty="0"/>
          </a:p>
        </p:txBody>
      </p:sp>
      <p:sp>
        <p:nvSpPr>
          <p:cNvPr id="23" name="Shape 17"/>
          <p:cNvSpPr/>
          <p:nvPr/>
        </p:nvSpPr>
        <p:spPr>
          <a:xfrm>
            <a:off x="6217920" y="2880360"/>
            <a:ext cx="5394960" cy="1261872"/>
          </a:xfrm>
          <a:prstGeom prst="roundRect">
            <a:avLst>
              <a:gd name="adj" fmla="val 6522"/>
            </a:avLst>
          </a:prstGeom>
          <a:solidFill>
            <a:srgbClr val="FFFFFF"/>
          </a:solidFill>
          <a:ln/>
          <a:effectLst>
            <a:outerShdw blurRad="63500" dist="25400" dir="5400000" algn="bl" rotWithShape="0">
              <a:srgbClr val="1B2733">
                <a:alpha val="10000"/>
              </a:srgbClr>
            </a:outerShdw>
          </a:effectLst>
        </p:spPr>
      </p:sp>
      <p:sp>
        <p:nvSpPr>
          <p:cNvPr id="24" name="Shape 18"/>
          <p:cNvSpPr/>
          <p:nvPr/>
        </p:nvSpPr>
        <p:spPr>
          <a:xfrm>
            <a:off x="6419088" y="3218688"/>
            <a:ext cx="594360" cy="594360"/>
          </a:xfrm>
          <a:prstGeom prst="ellipse">
            <a:avLst/>
          </a:prstGeom>
          <a:solidFill>
            <a:srgbClr val="E8F1FB"/>
          </a:solidFill>
          <a:ln/>
        </p:spPr>
      </p:sp>
      <p:pic>
        <p:nvPicPr>
          <p:cNvPr id="25" name="Image 4" descr="/home/claude/sql_pptx/icons/layers_blue.png"/>
          <p:cNvPicPr>
            <a:picLocks noChangeAspect="1"/>
          </p:cNvPicPr>
          <p:nvPr/>
        </p:nvPicPr>
        <p:blipFill>
          <a:blip r:embed="rId7"/>
          <a:stretch>
            <a:fillRect/>
          </a:stretch>
        </p:blipFill>
        <p:spPr>
          <a:xfrm>
            <a:off x="6573622" y="3373222"/>
            <a:ext cx="285293" cy="285293"/>
          </a:xfrm>
          <a:prstGeom prst="rect">
            <a:avLst/>
          </a:prstGeom>
        </p:spPr>
      </p:pic>
      <p:sp>
        <p:nvSpPr>
          <p:cNvPr id="26" name="Text 19"/>
          <p:cNvSpPr/>
          <p:nvPr/>
        </p:nvSpPr>
        <p:spPr>
          <a:xfrm>
            <a:off x="7223760" y="3081528"/>
            <a:ext cx="420624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Supports Large Databases</a:t>
            </a:r>
            <a:endParaRPr lang="en-US" dirty="0"/>
          </a:p>
        </p:txBody>
      </p:sp>
      <p:sp>
        <p:nvSpPr>
          <p:cNvPr id="27" name="Text 20"/>
          <p:cNvSpPr/>
          <p:nvPr/>
        </p:nvSpPr>
        <p:spPr>
          <a:xfrm>
            <a:off x="7223760" y="3447288"/>
            <a:ext cx="4206240" cy="594360"/>
          </a:xfrm>
          <a:prstGeom prst="rect">
            <a:avLst/>
          </a:prstGeom>
          <a:noFill/>
          <a:ln/>
        </p:spPr>
        <p:txBody>
          <a:bodyPr wrap="square" lIns="0" tIns="0" rIns="0" bIns="0" rtlCol="0" anchor="ctr"/>
          <a:lstStyle/>
          <a:p>
            <a:pPr marL="0" indent="0">
              <a:buNone/>
            </a:pPr>
            <a:r>
              <a:rPr lang="en-US" sz="1600" dirty="0">
                <a:solidFill>
                  <a:srgbClr val="5C7A99"/>
                </a:solidFill>
                <a:latin typeface="Calibri" pitchFamily="34" charset="0"/>
                <a:ea typeface="Calibri" pitchFamily="34" charset="-122"/>
                <a:cs typeface="Calibri" pitchFamily="34" charset="-120"/>
              </a:rPr>
              <a:t>Scales to handle massive volumes of structured data reliably.</a:t>
            </a:r>
            <a:endParaRPr lang="en-US" sz="1600" dirty="0"/>
          </a:p>
        </p:txBody>
      </p:sp>
      <p:sp>
        <p:nvSpPr>
          <p:cNvPr id="28" name="Shape 21"/>
          <p:cNvSpPr/>
          <p:nvPr/>
        </p:nvSpPr>
        <p:spPr>
          <a:xfrm>
            <a:off x="6217920" y="4343400"/>
            <a:ext cx="5394960" cy="1261872"/>
          </a:xfrm>
          <a:prstGeom prst="roundRect">
            <a:avLst>
              <a:gd name="adj" fmla="val 6522"/>
            </a:avLst>
          </a:prstGeom>
          <a:solidFill>
            <a:srgbClr val="0B2E59"/>
          </a:solidFill>
          <a:ln/>
        </p:spPr>
      </p:sp>
      <p:sp>
        <p:nvSpPr>
          <p:cNvPr id="29" name="Shape 22"/>
          <p:cNvSpPr/>
          <p:nvPr/>
        </p:nvSpPr>
        <p:spPr>
          <a:xfrm>
            <a:off x="6419088" y="4681728"/>
            <a:ext cx="594360" cy="594360"/>
          </a:xfrm>
          <a:prstGeom prst="ellipse">
            <a:avLst/>
          </a:prstGeom>
          <a:solidFill>
            <a:srgbClr val="2E86DE"/>
          </a:solidFill>
          <a:ln/>
        </p:spPr>
      </p:sp>
      <p:pic>
        <p:nvPicPr>
          <p:cNvPr id="30" name="Image 5" descr="/home/claude/sql_pptx/icons/rocket_white.png"/>
          <p:cNvPicPr>
            <a:picLocks noChangeAspect="1"/>
          </p:cNvPicPr>
          <p:nvPr/>
        </p:nvPicPr>
        <p:blipFill>
          <a:blip r:embed="rId8"/>
          <a:stretch>
            <a:fillRect/>
          </a:stretch>
        </p:blipFill>
        <p:spPr>
          <a:xfrm>
            <a:off x="6573622" y="4836262"/>
            <a:ext cx="285293" cy="285293"/>
          </a:xfrm>
          <a:prstGeom prst="rect">
            <a:avLst/>
          </a:prstGeom>
        </p:spPr>
      </p:pic>
      <p:sp>
        <p:nvSpPr>
          <p:cNvPr id="31" name="Text 23"/>
          <p:cNvSpPr/>
          <p:nvPr/>
        </p:nvSpPr>
        <p:spPr>
          <a:xfrm>
            <a:off x="7223760" y="4544568"/>
            <a:ext cx="420624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Widely adopted across industries</a:t>
            </a:r>
            <a:endParaRPr lang="en-US" dirty="0"/>
          </a:p>
        </p:txBody>
      </p:sp>
      <p:sp>
        <p:nvSpPr>
          <p:cNvPr id="32" name="Text 24"/>
          <p:cNvSpPr/>
          <p:nvPr/>
        </p:nvSpPr>
        <p:spPr>
          <a:xfrm>
            <a:off x="7223760" y="4910328"/>
            <a:ext cx="4206240" cy="5943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 must-have skill for developers, analysts, and administrators.</a:t>
            </a:r>
            <a:endParaRPr lang="en-US" sz="1600" dirty="0"/>
          </a:p>
        </p:txBody>
      </p:sp>
      <p:sp>
        <p:nvSpPr>
          <p:cNvPr id="33" name="Text 25"/>
          <p:cNvSpPr/>
          <p:nvPr/>
        </p:nvSpPr>
        <p:spPr>
          <a:xfrm>
            <a:off x="457200" y="6537960"/>
            <a:ext cx="5486400" cy="274320"/>
          </a:xfrm>
          <a:prstGeom prst="rect">
            <a:avLst/>
          </a:prstGeom>
          <a:noFill/>
          <a:ln/>
        </p:spPr>
        <p:txBody>
          <a:bodyPr wrap="square" lIns="0" tIns="0" rIns="0" bIns="0"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SQL — Structured Query Language</a:t>
            </a:r>
            <a:endParaRPr lang="en-US" sz="900" dirty="0"/>
          </a:p>
        </p:txBody>
      </p:sp>
      <p:sp>
        <p:nvSpPr>
          <p:cNvPr id="34" name="Text 2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D"/>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marL="0" indent="0" algn="l">
              <a:buNone/>
            </a:pPr>
            <a:r>
              <a:rPr lang="en-US" sz="3200" b="1" dirty="0">
                <a:solidFill>
                  <a:srgbClr val="16324F"/>
                </a:solidFill>
                <a:latin typeface="Cambria" pitchFamily="34" charset="0"/>
                <a:ea typeface="Cambria" pitchFamily="34" charset="-122"/>
                <a:cs typeface="Cambria" pitchFamily="34" charset="-120"/>
              </a:rPr>
              <a:t>Types of SQL Commands</a:t>
            </a:r>
            <a:endParaRPr lang="en-US" sz="3200" dirty="0"/>
          </a:p>
        </p:txBody>
      </p:sp>
      <p:sp>
        <p:nvSpPr>
          <p:cNvPr id="3" name="Shape 1"/>
          <p:cNvSpPr/>
          <p:nvPr/>
        </p:nvSpPr>
        <p:spPr>
          <a:xfrm>
            <a:off x="548640" y="1508760"/>
            <a:ext cx="2051914" cy="4160520"/>
          </a:xfrm>
          <a:prstGeom prst="roundRect">
            <a:avLst>
              <a:gd name="adj" fmla="val 4456"/>
            </a:avLst>
          </a:prstGeom>
          <a:solidFill>
            <a:srgbClr val="FFFFFF"/>
          </a:solidFill>
          <a:ln/>
          <a:effectLst>
            <a:outerShdw blurRad="63500" dist="25400" dir="5400000" algn="bl" rotWithShape="0">
              <a:srgbClr val="1B2733">
                <a:alpha val="10000"/>
              </a:srgbClr>
            </a:outerShdw>
          </a:effectLst>
        </p:spPr>
      </p:sp>
      <p:sp>
        <p:nvSpPr>
          <p:cNvPr id="4" name="Shape 2"/>
          <p:cNvSpPr/>
          <p:nvPr/>
        </p:nvSpPr>
        <p:spPr>
          <a:xfrm>
            <a:off x="548640" y="1508760"/>
            <a:ext cx="2051914" cy="1234440"/>
          </a:xfrm>
          <a:prstGeom prst="roundRect">
            <a:avLst>
              <a:gd name="adj" fmla="val 7407"/>
            </a:avLst>
          </a:prstGeom>
          <a:solidFill>
            <a:srgbClr val="0B2E59"/>
          </a:solidFill>
          <a:ln/>
        </p:spPr>
      </p:sp>
      <p:sp>
        <p:nvSpPr>
          <p:cNvPr id="5" name="Shape 3"/>
          <p:cNvSpPr/>
          <p:nvPr/>
        </p:nvSpPr>
        <p:spPr>
          <a:xfrm>
            <a:off x="548640" y="2130552"/>
            <a:ext cx="2051914" cy="612648"/>
          </a:xfrm>
          <a:prstGeom prst="rect">
            <a:avLst/>
          </a:prstGeom>
          <a:solidFill>
            <a:srgbClr val="0B2E59"/>
          </a:solidFill>
          <a:ln/>
        </p:spPr>
      </p:sp>
      <p:sp>
        <p:nvSpPr>
          <p:cNvPr id="6" name="Shape 4"/>
          <p:cNvSpPr/>
          <p:nvPr/>
        </p:nvSpPr>
        <p:spPr>
          <a:xfrm>
            <a:off x="1254557" y="1673352"/>
            <a:ext cx="640080" cy="640080"/>
          </a:xfrm>
          <a:prstGeom prst="ellipse">
            <a:avLst/>
          </a:prstGeom>
          <a:solidFill>
            <a:srgbClr val="2E86DE"/>
          </a:solidFill>
          <a:ln/>
        </p:spPr>
      </p:sp>
      <p:pic>
        <p:nvPicPr>
          <p:cNvPr id="7" name="Image 0" descr="/home/claude/sql_pptx/icons/table_white.png"/>
          <p:cNvPicPr>
            <a:picLocks noChangeAspect="1"/>
          </p:cNvPicPr>
          <p:nvPr/>
        </p:nvPicPr>
        <p:blipFill>
          <a:blip r:embed="rId3"/>
          <a:stretch>
            <a:fillRect/>
          </a:stretch>
        </p:blipFill>
        <p:spPr>
          <a:xfrm>
            <a:off x="1420978" y="1839773"/>
            <a:ext cx="307238" cy="307238"/>
          </a:xfrm>
          <a:prstGeom prst="rect">
            <a:avLst/>
          </a:prstGeom>
        </p:spPr>
      </p:pic>
      <p:sp>
        <p:nvSpPr>
          <p:cNvPr id="8" name="Text 5"/>
          <p:cNvSpPr/>
          <p:nvPr/>
        </p:nvSpPr>
        <p:spPr>
          <a:xfrm>
            <a:off x="548640" y="2788920"/>
            <a:ext cx="2051914" cy="365760"/>
          </a:xfrm>
          <a:prstGeom prst="rect">
            <a:avLst/>
          </a:prstGeom>
          <a:noFill/>
          <a:ln/>
        </p:spPr>
        <p:txBody>
          <a:bodyPr wrap="square" lIns="0" tIns="0" rIns="0" bIns="0" rtlCol="0" anchor="ctr"/>
          <a:lstStyle/>
          <a:p>
            <a:pPr marL="0" indent="0" algn="ctr">
              <a:buNone/>
            </a:pPr>
            <a:r>
              <a:rPr lang="en-US" sz="1900" b="1" dirty="0">
                <a:solidFill>
                  <a:srgbClr val="16324F"/>
                </a:solidFill>
                <a:latin typeface="Cambria" pitchFamily="34" charset="0"/>
                <a:ea typeface="Cambria" pitchFamily="34" charset="-122"/>
                <a:cs typeface="Cambria" pitchFamily="34" charset="-120"/>
              </a:rPr>
              <a:t>DDL</a:t>
            </a:r>
            <a:endParaRPr lang="en-US" sz="1900" dirty="0"/>
          </a:p>
        </p:txBody>
      </p:sp>
      <p:sp>
        <p:nvSpPr>
          <p:cNvPr id="9" name="Text 6"/>
          <p:cNvSpPr/>
          <p:nvPr/>
        </p:nvSpPr>
        <p:spPr>
          <a:xfrm>
            <a:off x="621792" y="3172968"/>
            <a:ext cx="1905610" cy="502920"/>
          </a:xfrm>
          <a:prstGeom prst="rect">
            <a:avLst/>
          </a:prstGeom>
          <a:noFill/>
          <a:ln/>
        </p:spPr>
        <p:txBody>
          <a:bodyPr wrap="square" lIns="0" tIns="0" rIns="0" bIns="0" rtlCol="0" anchor="ctr"/>
          <a:lstStyle/>
          <a:p>
            <a:pPr marL="0" indent="0" algn="ctr">
              <a:buNone/>
            </a:pPr>
            <a:r>
              <a:rPr lang="en-US" sz="1600" dirty="0">
                <a:solidFill>
                  <a:srgbClr val="5C7A99"/>
                </a:solidFill>
                <a:latin typeface="Calibri" pitchFamily="34" charset="0"/>
                <a:ea typeface="Calibri" pitchFamily="34" charset="-122"/>
                <a:cs typeface="Calibri" pitchFamily="34" charset="-120"/>
              </a:rPr>
              <a:t>Data Definition</a:t>
            </a:r>
            <a:endParaRPr lang="en-US" sz="1600" dirty="0"/>
          </a:p>
        </p:txBody>
      </p:sp>
      <p:sp>
        <p:nvSpPr>
          <p:cNvPr id="10" name="Shape 7"/>
          <p:cNvSpPr/>
          <p:nvPr/>
        </p:nvSpPr>
        <p:spPr>
          <a:xfrm>
            <a:off x="777240" y="3749040"/>
            <a:ext cx="1594714" cy="0"/>
          </a:xfrm>
          <a:prstGeom prst="line">
            <a:avLst/>
          </a:prstGeom>
          <a:noFill/>
          <a:ln w="12700">
            <a:solidFill>
              <a:srgbClr val="DCE7F5"/>
            </a:solidFill>
            <a:prstDash val="solid"/>
          </a:ln>
        </p:spPr>
      </p:sp>
      <p:sp>
        <p:nvSpPr>
          <p:cNvPr id="11" name="Text 8"/>
          <p:cNvSpPr/>
          <p:nvPr/>
        </p:nvSpPr>
        <p:spPr>
          <a:xfrm>
            <a:off x="621792" y="3886200"/>
            <a:ext cx="1905610" cy="1645920"/>
          </a:xfrm>
          <a:prstGeom prst="rect">
            <a:avLst/>
          </a:prstGeom>
          <a:noFill/>
          <a:ln/>
        </p:spPr>
        <p:txBody>
          <a:bodyPr wrap="square" lIns="0" tIns="0" rIns="0" bIns="0" rtlCol="0" anchor="ctr"/>
          <a:lstStyle/>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CREATE</a:t>
            </a:r>
            <a:endParaRPr lang="en-US" sz="1600" dirty="0"/>
          </a:p>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ALTER</a:t>
            </a:r>
            <a:endParaRPr lang="en-US" sz="1600" dirty="0"/>
          </a:p>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DROP</a:t>
            </a:r>
            <a:endParaRPr lang="en-US" sz="1600" dirty="0"/>
          </a:p>
        </p:txBody>
      </p:sp>
      <p:sp>
        <p:nvSpPr>
          <p:cNvPr id="12" name="Shape 9"/>
          <p:cNvSpPr/>
          <p:nvPr/>
        </p:nvSpPr>
        <p:spPr>
          <a:xfrm>
            <a:off x="2771821" y="1623061"/>
            <a:ext cx="2051914" cy="4160520"/>
          </a:xfrm>
          <a:prstGeom prst="roundRect">
            <a:avLst>
              <a:gd name="adj" fmla="val 4456"/>
            </a:avLst>
          </a:prstGeom>
          <a:solidFill>
            <a:srgbClr val="FFFFFF"/>
          </a:solidFill>
          <a:ln/>
          <a:effectLst>
            <a:outerShdw blurRad="63500" dist="25400" dir="5400000" algn="bl" rotWithShape="0">
              <a:srgbClr val="1B2733">
                <a:alpha val="10000"/>
              </a:srgbClr>
            </a:outerShdw>
          </a:effectLst>
        </p:spPr>
        <p:txBody>
          <a:bodyPr/>
          <a:lstStyle/>
          <a:p>
            <a:endParaRPr lang="en-IN" dirty="0"/>
          </a:p>
        </p:txBody>
      </p:sp>
      <p:sp>
        <p:nvSpPr>
          <p:cNvPr id="13" name="Shape 10"/>
          <p:cNvSpPr/>
          <p:nvPr/>
        </p:nvSpPr>
        <p:spPr>
          <a:xfrm>
            <a:off x="2801722" y="1508760"/>
            <a:ext cx="2051914" cy="1234440"/>
          </a:xfrm>
          <a:prstGeom prst="roundRect">
            <a:avLst>
              <a:gd name="adj" fmla="val 7407"/>
            </a:avLst>
          </a:prstGeom>
          <a:solidFill>
            <a:srgbClr val="0B2E59"/>
          </a:solidFill>
          <a:ln/>
        </p:spPr>
      </p:sp>
      <p:sp>
        <p:nvSpPr>
          <p:cNvPr id="14" name="Shape 11"/>
          <p:cNvSpPr/>
          <p:nvPr/>
        </p:nvSpPr>
        <p:spPr>
          <a:xfrm>
            <a:off x="2801722" y="2130552"/>
            <a:ext cx="2051914" cy="612648"/>
          </a:xfrm>
          <a:prstGeom prst="rect">
            <a:avLst/>
          </a:prstGeom>
          <a:solidFill>
            <a:srgbClr val="0B2E59"/>
          </a:solidFill>
          <a:ln/>
        </p:spPr>
      </p:sp>
      <p:sp>
        <p:nvSpPr>
          <p:cNvPr id="15" name="Shape 12"/>
          <p:cNvSpPr/>
          <p:nvPr/>
        </p:nvSpPr>
        <p:spPr>
          <a:xfrm>
            <a:off x="3507638" y="1673352"/>
            <a:ext cx="640080" cy="640080"/>
          </a:xfrm>
          <a:prstGeom prst="ellipse">
            <a:avLst/>
          </a:prstGeom>
          <a:solidFill>
            <a:srgbClr val="2E86DE"/>
          </a:solidFill>
          <a:ln/>
        </p:spPr>
      </p:sp>
      <p:pic>
        <p:nvPicPr>
          <p:cNvPr id="16" name="Image 1" descr="/home/claude/sql_pptx/icons/edit_white.png"/>
          <p:cNvPicPr>
            <a:picLocks noChangeAspect="1"/>
          </p:cNvPicPr>
          <p:nvPr/>
        </p:nvPicPr>
        <p:blipFill>
          <a:blip r:embed="rId4"/>
          <a:stretch>
            <a:fillRect/>
          </a:stretch>
        </p:blipFill>
        <p:spPr>
          <a:xfrm>
            <a:off x="3674059" y="1839773"/>
            <a:ext cx="307238" cy="307238"/>
          </a:xfrm>
          <a:prstGeom prst="rect">
            <a:avLst/>
          </a:prstGeom>
        </p:spPr>
      </p:pic>
      <p:sp>
        <p:nvSpPr>
          <p:cNvPr id="17" name="Text 13"/>
          <p:cNvSpPr/>
          <p:nvPr/>
        </p:nvSpPr>
        <p:spPr>
          <a:xfrm>
            <a:off x="2801722" y="2788920"/>
            <a:ext cx="2051914" cy="365760"/>
          </a:xfrm>
          <a:prstGeom prst="rect">
            <a:avLst/>
          </a:prstGeom>
          <a:noFill/>
          <a:ln/>
        </p:spPr>
        <p:txBody>
          <a:bodyPr wrap="square" lIns="0" tIns="0" rIns="0" bIns="0" rtlCol="0" anchor="ctr"/>
          <a:lstStyle/>
          <a:p>
            <a:pPr marL="0" indent="0" algn="ctr">
              <a:buNone/>
            </a:pPr>
            <a:r>
              <a:rPr lang="en-US" sz="1900" b="1" dirty="0">
                <a:solidFill>
                  <a:srgbClr val="16324F"/>
                </a:solidFill>
                <a:latin typeface="Cambria" pitchFamily="34" charset="0"/>
                <a:ea typeface="Cambria" pitchFamily="34" charset="-122"/>
                <a:cs typeface="Cambria" pitchFamily="34" charset="-120"/>
              </a:rPr>
              <a:t>DML</a:t>
            </a:r>
            <a:endParaRPr lang="en-US" sz="1900" dirty="0"/>
          </a:p>
        </p:txBody>
      </p:sp>
      <p:sp>
        <p:nvSpPr>
          <p:cNvPr id="18" name="Text 14"/>
          <p:cNvSpPr/>
          <p:nvPr/>
        </p:nvSpPr>
        <p:spPr>
          <a:xfrm>
            <a:off x="2874874" y="3172968"/>
            <a:ext cx="1905610" cy="502920"/>
          </a:xfrm>
          <a:prstGeom prst="rect">
            <a:avLst/>
          </a:prstGeom>
          <a:noFill/>
          <a:ln/>
        </p:spPr>
        <p:txBody>
          <a:bodyPr wrap="square" lIns="0" tIns="0" rIns="0" bIns="0" rtlCol="0" anchor="ctr"/>
          <a:lstStyle/>
          <a:p>
            <a:pPr marL="0" indent="0" algn="ctr">
              <a:buNone/>
            </a:pPr>
            <a:r>
              <a:rPr lang="en-US" sz="1600" dirty="0">
                <a:solidFill>
                  <a:srgbClr val="5C7A99"/>
                </a:solidFill>
                <a:latin typeface="Calibri" pitchFamily="34" charset="0"/>
                <a:ea typeface="Calibri" pitchFamily="34" charset="-122"/>
                <a:cs typeface="Calibri" pitchFamily="34" charset="-120"/>
              </a:rPr>
              <a:t>Data Manipulation</a:t>
            </a:r>
            <a:endParaRPr lang="en-US" sz="1600" dirty="0"/>
          </a:p>
        </p:txBody>
      </p:sp>
      <p:sp>
        <p:nvSpPr>
          <p:cNvPr id="19" name="Shape 15"/>
          <p:cNvSpPr/>
          <p:nvPr/>
        </p:nvSpPr>
        <p:spPr>
          <a:xfrm>
            <a:off x="3030322" y="3749040"/>
            <a:ext cx="1594714" cy="0"/>
          </a:xfrm>
          <a:prstGeom prst="line">
            <a:avLst/>
          </a:prstGeom>
          <a:noFill/>
          <a:ln w="12700">
            <a:solidFill>
              <a:srgbClr val="DCE7F5"/>
            </a:solidFill>
            <a:prstDash val="solid"/>
          </a:ln>
        </p:spPr>
      </p:sp>
      <p:sp>
        <p:nvSpPr>
          <p:cNvPr id="20" name="Text 16"/>
          <p:cNvSpPr/>
          <p:nvPr/>
        </p:nvSpPr>
        <p:spPr>
          <a:xfrm>
            <a:off x="2874874" y="3886200"/>
            <a:ext cx="1905610" cy="1645920"/>
          </a:xfrm>
          <a:prstGeom prst="rect">
            <a:avLst/>
          </a:prstGeom>
          <a:noFill/>
          <a:ln/>
        </p:spPr>
        <p:txBody>
          <a:bodyPr wrap="square" lIns="0" tIns="0" rIns="0" bIns="0" rtlCol="0" anchor="ctr"/>
          <a:lstStyle/>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INSERT</a:t>
            </a:r>
            <a:endParaRPr lang="en-US" sz="1600" dirty="0"/>
          </a:p>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UPDATE</a:t>
            </a:r>
            <a:endParaRPr lang="en-US" sz="1600" dirty="0"/>
          </a:p>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DELETE</a:t>
            </a:r>
            <a:endParaRPr lang="en-US" sz="1600" dirty="0"/>
          </a:p>
        </p:txBody>
      </p:sp>
      <p:sp>
        <p:nvSpPr>
          <p:cNvPr id="21" name="Shape 17"/>
          <p:cNvSpPr/>
          <p:nvPr/>
        </p:nvSpPr>
        <p:spPr>
          <a:xfrm>
            <a:off x="5054803" y="1508760"/>
            <a:ext cx="2051914" cy="4160520"/>
          </a:xfrm>
          <a:prstGeom prst="roundRect">
            <a:avLst>
              <a:gd name="adj" fmla="val 4456"/>
            </a:avLst>
          </a:prstGeom>
          <a:solidFill>
            <a:srgbClr val="FFFFFF"/>
          </a:solidFill>
          <a:ln/>
          <a:effectLst>
            <a:outerShdw blurRad="63500" dist="25400" dir="5400000" algn="bl" rotWithShape="0">
              <a:srgbClr val="1B2733">
                <a:alpha val="10000"/>
              </a:srgbClr>
            </a:outerShdw>
          </a:effectLst>
        </p:spPr>
      </p:sp>
      <p:sp>
        <p:nvSpPr>
          <p:cNvPr id="22" name="Shape 18"/>
          <p:cNvSpPr/>
          <p:nvPr/>
        </p:nvSpPr>
        <p:spPr>
          <a:xfrm>
            <a:off x="5054803" y="1508760"/>
            <a:ext cx="2051914" cy="1234440"/>
          </a:xfrm>
          <a:prstGeom prst="roundRect">
            <a:avLst>
              <a:gd name="adj" fmla="val 7407"/>
            </a:avLst>
          </a:prstGeom>
          <a:solidFill>
            <a:srgbClr val="0B2E59"/>
          </a:solidFill>
          <a:ln/>
        </p:spPr>
      </p:sp>
      <p:sp>
        <p:nvSpPr>
          <p:cNvPr id="23" name="Shape 19"/>
          <p:cNvSpPr/>
          <p:nvPr/>
        </p:nvSpPr>
        <p:spPr>
          <a:xfrm>
            <a:off x="5054803" y="2130552"/>
            <a:ext cx="2051914" cy="612648"/>
          </a:xfrm>
          <a:prstGeom prst="rect">
            <a:avLst/>
          </a:prstGeom>
          <a:solidFill>
            <a:srgbClr val="0B2E59"/>
          </a:solidFill>
          <a:ln/>
        </p:spPr>
      </p:sp>
      <p:sp>
        <p:nvSpPr>
          <p:cNvPr id="24" name="Shape 20"/>
          <p:cNvSpPr/>
          <p:nvPr/>
        </p:nvSpPr>
        <p:spPr>
          <a:xfrm>
            <a:off x="5760720" y="1673352"/>
            <a:ext cx="640080" cy="640080"/>
          </a:xfrm>
          <a:prstGeom prst="ellipse">
            <a:avLst/>
          </a:prstGeom>
          <a:solidFill>
            <a:srgbClr val="2E86DE"/>
          </a:solidFill>
          <a:ln/>
        </p:spPr>
      </p:sp>
      <p:pic>
        <p:nvPicPr>
          <p:cNvPr id="25" name="Image 2" descr="/home/claude/sql_pptx/icons/search_white.png"/>
          <p:cNvPicPr>
            <a:picLocks noChangeAspect="1"/>
          </p:cNvPicPr>
          <p:nvPr/>
        </p:nvPicPr>
        <p:blipFill>
          <a:blip r:embed="rId5"/>
          <a:stretch>
            <a:fillRect/>
          </a:stretch>
        </p:blipFill>
        <p:spPr>
          <a:xfrm>
            <a:off x="5927141" y="1839773"/>
            <a:ext cx="307238" cy="307238"/>
          </a:xfrm>
          <a:prstGeom prst="rect">
            <a:avLst/>
          </a:prstGeom>
        </p:spPr>
      </p:pic>
      <p:sp>
        <p:nvSpPr>
          <p:cNvPr id="26" name="Text 21"/>
          <p:cNvSpPr/>
          <p:nvPr/>
        </p:nvSpPr>
        <p:spPr>
          <a:xfrm>
            <a:off x="5054803" y="2788920"/>
            <a:ext cx="2051914" cy="365760"/>
          </a:xfrm>
          <a:prstGeom prst="rect">
            <a:avLst/>
          </a:prstGeom>
          <a:noFill/>
          <a:ln/>
        </p:spPr>
        <p:txBody>
          <a:bodyPr wrap="square" lIns="0" tIns="0" rIns="0" bIns="0" rtlCol="0" anchor="ctr"/>
          <a:lstStyle/>
          <a:p>
            <a:pPr marL="0" indent="0" algn="ctr">
              <a:buNone/>
            </a:pPr>
            <a:r>
              <a:rPr lang="en-US" sz="1900" b="1" dirty="0">
                <a:solidFill>
                  <a:srgbClr val="16324F"/>
                </a:solidFill>
                <a:latin typeface="Cambria" pitchFamily="34" charset="0"/>
                <a:ea typeface="Cambria" pitchFamily="34" charset="-122"/>
                <a:cs typeface="Cambria" pitchFamily="34" charset="-120"/>
              </a:rPr>
              <a:t>DQL</a:t>
            </a:r>
            <a:endParaRPr lang="en-US" sz="1900" dirty="0"/>
          </a:p>
        </p:txBody>
      </p:sp>
      <p:sp>
        <p:nvSpPr>
          <p:cNvPr id="27" name="Text 22"/>
          <p:cNvSpPr/>
          <p:nvPr/>
        </p:nvSpPr>
        <p:spPr>
          <a:xfrm>
            <a:off x="5127955" y="3172968"/>
            <a:ext cx="1905610" cy="502920"/>
          </a:xfrm>
          <a:prstGeom prst="rect">
            <a:avLst/>
          </a:prstGeom>
          <a:noFill/>
          <a:ln/>
        </p:spPr>
        <p:txBody>
          <a:bodyPr wrap="square" lIns="0" tIns="0" rIns="0" bIns="0" rtlCol="0" anchor="ctr"/>
          <a:lstStyle/>
          <a:p>
            <a:pPr marL="0" indent="0" algn="ctr">
              <a:buNone/>
            </a:pPr>
            <a:r>
              <a:rPr lang="en-US" sz="1600" dirty="0">
                <a:solidFill>
                  <a:srgbClr val="5C7A99"/>
                </a:solidFill>
                <a:latin typeface="Calibri" pitchFamily="34" charset="0"/>
                <a:ea typeface="Calibri" pitchFamily="34" charset="-122"/>
                <a:cs typeface="Calibri" pitchFamily="34" charset="-120"/>
              </a:rPr>
              <a:t>Data Query</a:t>
            </a:r>
            <a:endParaRPr lang="en-US" sz="1600" dirty="0"/>
          </a:p>
        </p:txBody>
      </p:sp>
      <p:sp>
        <p:nvSpPr>
          <p:cNvPr id="28" name="Shape 23"/>
          <p:cNvSpPr/>
          <p:nvPr/>
        </p:nvSpPr>
        <p:spPr>
          <a:xfrm>
            <a:off x="5283403" y="3749040"/>
            <a:ext cx="1594714" cy="0"/>
          </a:xfrm>
          <a:prstGeom prst="line">
            <a:avLst/>
          </a:prstGeom>
          <a:noFill/>
          <a:ln w="12700">
            <a:solidFill>
              <a:srgbClr val="DCE7F5"/>
            </a:solidFill>
            <a:prstDash val="solid"/>
          </a:ln>
        </p:spPr>
      </p:sp>
      <p:sp>
        <p:nvSpPr>
          <p:cNvPr id="29" name="Text 24"/>
          <p:cNvSpPr/>
          <p:nvPr/>
        </p:nvSpPr>
        <p:spPr>
          <a:xfrm>
            <a:off x="5127955" y="3886200"/>
            <a:ext cx="1905610" cy="1645920"/>
          </a:xfrm>
          <a:prstGeom prst="rect">
            <a:avLst/>
          </a:prstGeom>
          <a:noFill/>
          <a:ln/>
        </p:spPr>
        <p:txBody>
          <a:bodyPr wrap="square" lIns="0" tIns="0" rIns="0" bIns="0" rtlCol="0" anchor="ctr"/>
          <a:lstStyle/>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SELECT</a:t>
            </a:r>
            <a:endParaRPr lang="en-US" sz="1600" dirty="0"/>
          </a:p>
        </p:txBody>
      </p:sp>
      <p:sp>
        <p:nvSpPr>
          <p:cNvPr id="30" name="Shape 25"/>
          <p:cNvSpPr/>
          <p:nvPr/>
        </p:nvSpPr>
        <p:spPr>
          <a:xfrm>
            <a:off x="7307885" y="1508760"/>
            <a:ext cx="2051914" cy="4160520"/>
          </a:xfrm>
          <a:prstGeom prst="roundRect">
            <a:avLst>
              <a:gd name="adj" fmla="val 4456"/>
            </a:avLst>
          </a:prstGeom>
          <a:solidFill>
            <a:srgbClr val="FFFFFF"/>
          </a:solidFill>
          <a:ln/>
          <a:effectLst>
            <a:outerShdw blurRad="63500" dist="25400" dir="5400000" algn="bl" rotWithShape="0">
              <a:srgbClr val="1B2733">
                <a:alpha val="10000"/>
              </a:srgbClr>
            </a:outerShdw>
          </a:effectLst>
        </p:spPr>
      </p:sp>
      <p:sp>
        <p:nvSpPr>
          <p:cNvPr id="31" name="Shape 26"/>
          <p:cNvSpPr/>
          <p:nvPr/>
        </p:nvSpPr>
        <p:spPr>
          <a:xfrm>
            <a:off x="7307885" y="1508760"/>
            <a:ext cx="2051914" cy="1234440"/>
          </a:xfrm>
          <a:prstGeom prst="roundRect">
            <a:avLst>
              <a:gd name="adj" fmla="val 7407"/>
            </a:avLst>
          </a:prstGeom>
          <a:solidFill>
            <a:srgbClr val="0B2E59"/>
          </a:solidFill>
          <a:ln/>
        </p:spPr>
      </p:sp>
      <p:sp>
        <p:nvSpPr>
          <p:cNvPr id="32" name="Shape 27"/>
          <p:cNvSpPr/>
          <p:nvPr/>
        </p:nvSpPr>
        <p:spPr>
          <a:xfrm>
            <a:off x="7307885" y="2130552"/>
            <a:ext cx="2051914" cy="612648"/>
          </a:xfrm>
          <a:prstGeom prst="rect">
            <a:avLst/>
          </a:prstGeom>
          <a:solidFill>
            <a:srgbClr val="0B2E59"/>
          </a:solidFill>
          <a:ln/>
        </p:spPr>
      </p:sp>
      <p:sp>
        <p:nvSpPr>
          <p:cNvPr id="33" name="Shape 28"/>
          <p:cNvSpPr/>
          <p:nvPr/>
        </p:nvSpPr>
        <p:spPr>
          <a:xfrm>
            <a:off x="8013802" y="1673352"/>
            <a:ext cx="640080" cy="640080"/>
          </a:xfrm>
          <a:prstGeom prst="ellipse">
            <a:avLst/>
          </a:prstGeom>
          <a:solidFill>
            <a:srgbClr val="2E86DE"/>
          </a:solidFill>
          <a:ln/>
        </p:spPr>
      </p:sp>
      <p:pic>
        <p:nvPicPr>
          <p:cNvPr id="34" name="Image 3" descr="/home/claude/sql_pptx/icons/key_white.png"/>
          <p:cNvPicPr>
            <a:picLocks noChangeAspect="1"/>
          </p:cNvPicPr>
          <p:nvPr/>
        </p:nvPicPr>
        <p:blipFill>
          <a:blip r:embed="rId6"/>
          <a:stretch>
            <a:fillRect/>
          </a:stretch>
        </p:blipFill>
        <p:spPr>
          <a:xfrm>
            <a:off x="8180222" y="1839773"/>
            <a:ext cx="307238" cy="307238"/>
          </a:xfrm>
          <a:prstGeom prst="rect">
            <a:avLst/>
          </a:prstGeom>
        </p:spPr>
      </p:pic>
      <p:sp>
        <p:nvSpPr>
          <p:cNvPr id="35" name="Text 29"/>
          <p:cNvSpPr/>
          <p:nvPr/>
        </p:nvSpPr>
        <p:spPr>
          <a:xfrm>
            <a:off x="7307885" y="2788920"/>
            <a:ext cx="2051914" cy="365760"/>
          </a:xfrm>
          <a:prstGeom prst="rect">
            <a:avLst/>
          </a:prstGeom>
          <a:noFill/>
          <a:ln/>
        </p:spPr>
        <p:txBody>
          <a:bodyPr wrap="square" lIns="0" tIns="0" rIns="0" bIns="0" rtlCol="0" anchor="ctr"/>
          <a:lstStyle/>
          <a:p>
            <a:pPr marL="0" indent="0" algn="ctr">
              <a:buNone/>
            </a:pPr>
            <a:r>
              <a:rPr lang="en-US" sz="1900" b="1" dirty="0">
                <a:solidFill>
                  <a:srgbClr val="16324F"/>
                </a:solidFill>
                <a:latin typeface="Cambria" pitchFamily="34" charset="0"/>
                <a:ea typeface="Cambria" pitchFamily="34" charset="-122"/>
                <a:cs typeface="Cambria" pitchFamily="34" charset="-120"/>
              </a:rPr>
              <a:t>DCL</a:t>
            </a:r>
            <a:endParaRPr lang="en-US" sz="1900" dirty="0"/>
          </a:p>
        </p:txBody>
      </p:sp>
      <p:sp>
        <p:nvSpPr>
          <p:cNvPr id="36" name="Text 30"/>
          <p:cNvSpPr/>
          <p:nvPr/>
        </p:nvSpPr>
        <p:spPr>
          <a:xfrm>
            <a:off x="7381037" y="3172968"/>
            <a:ext cx="1905610" cy="502920"/>
          </a:xfrm>
          <a:prstGeom prst="rect">
            <a:avLst/>
          </a:prstGeom>
          <a:noFill/>
          <a:ln/>
        </p:spPr>
        <p:txBody>
          <a:bodyPr wrap="square" lIns="0" tIns="0" rIns="0" bIns="0" rtlCol="0" anchor="ctr"/>
          <a:lstStyle/>
          <a:p>
            <a:pPr marL="0" indent="0" algn="ctr">
              <a:buNone/>
            </a:pPr>
            <a:r>
              <a:rPr lang="en-US" sz="1600" dirty="0">
                <a:solidFill>
                  <a:srgbClr val="5C7A99"/>
                </a:solidFill>
                <a:latin typeface="Calibri" pitchFamily="34" charset="0"/>
                <a:ea typeface="Calibri" pitchFamily="34" charset="-122"/>
                <a:cs typeface="Calibri" pitchFamily="34" charset="-120"/>
              </a:rPr>
              <a:t>Data Control</a:t>
            </a:r>
            <a:endParaRPr lang="en-US" sz="1600" dirty="0"/>
          </a:p>
        </p:txBody>
      </p:sp>
      <p:sp>
        <p:nvSpPr>
          <p:cNvPr id="37" name="Shape 31"/>
          <p:cNvSpPr/>
          <p:nvPr/>
        </p:nvSpPr>
        <p:spPr>
          <a:xfrm>
            <a:off x="7536485" y="3749040"/>
            <a:ext cx="1594714" cy="0"/>
          </a:xfrm>
          <a:prstGeom prst="line">
            <a:avLst/>
          </a:prstGeom>
          <a:noFill/>
          <a:ln w="12700">
            <a:solidFill>
              <a:srgbClr val="DCE7F5"/>
            </a:solidFill>
            <a:prstDash val="solid"/>
          </a:ln>
        </p:spPr>
      </p:sp>
      <p:sp>
        <p:nvSpPr>
          <p:cNvPr id="38" name="Text 32"/>
          <p:cNvSpPr/>
          <p:nvPr/>
        </p:nvSpPr>
        <p:spPr>
          <a:xfrm>
            <a:off x="7381037" y="3886200"/>
            <a:ext cx="1905610" cy="1645920"/>
          </a:xfrm>
          <a:prstGeom prst="rect">
            <a:avLst/>
          </a:prstGeom>
          <a:noFill/>
          <a:ln/>
        </p:spPr>
        <p:txBody>
          <a:bodyPr wrap="square" lIns="0" tIns="0" rIns="0" bIns="0" rtlCol="0" anchor="ctr"/>
          <a:lstStyle/>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GRANT</a:t>
            </a:r>
            <a:endParaRPr lang="en-US" sz="1600" dirty="0"/>
          </a:p>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REVOKE</a:t>
            </a:r>
            <a:endParaRPr lang="en-US" sz="1600" dirty="0"/>
          </a:p>
        </p:txBody>
      </p:sp>
      <p:sp>
        <p:nvSpPr>
          <p:cNvPr id="39" name="Shape 33"/>
          <p:cNvSpPr/>
          <p:nvPr/>
        </p:nvSpPr>
        <p:spPr>
          <a:xfrm>
            <a:off x="9560966" y="1508760"/>
            <a:ext cx="2051914" cy="4160520"/>
          </a:xfrm>
          <a:prstGeom prst="roundRect">
            <a:avLst>
              <a:gd name="adj" fmla="val 4456"/>
            </a:avLst>
          </a:prstGeom>
          <a:solidFill>
            <a:srgbClr val="FFFFFF"/>
          </a:solidFill>
          <a:ln/>
          <a:effectLst>
            <a:outerShdw blurRad="63500" dist="25400" dir="5400000" algn="bl" rotWithShape="0">
              <a:srgbClr val="1B2733">
                <a:alpha val="10000"/>
              </a:srgbClr>
            </a:outerShdw>
          </a:effectLst>
        </p:spPr>
      </p:sp>
      <p:sp>
        <p:nvSpPr>
          <p:cNvPr id="40" name="Shape 34"/>
          <p:cNvSpPr/>
          <p:nvPr/>
        </p:nvSpPr>
        <p:spPr>
          <a:xfrm>
            <a:off x="9560966" y="1508760"/>
            <a:ext cx="2051914" cy="1234440"/>
          </a:xfrm>
          <a:prstGeom prst="roundRect">
            <a:avLst>
              <a:gd name="adj" fmla="val 7407"/>
            </a:avLst>
          </a:prstGeom>
          <a:solidFill>
            <a:srgbClr val="0B2E59"/>
          </a:solidFill>
          <a:ln/>
        </p:spPr>
      </p:sp>
      <p:sp>
        <p:nvSpPr>
          <p:cNvPr id="41" name="Shape 35"/>
          <p:cNvSpPr/>
          <p:nvPr/>
        </p:nvSpPr>
        <p:spPr>
          <a:xfrm>
            <a:off x="9560966" y="2130552"/>
            <a:ext cx="2051914" cy="612648"/>
          </a:xfrm>
          <a:prstGeom prst="rect">
            <a:avLst/>
          </a:prstGeom>
          <a:solidFill>
            <a:srgbClr val="0B2E59"/>
          </a:solidFill>
          <a:ln/>
        </p:spPr>
      </p:sp>
      <p:sp>
        <p:nvSpPr>
          <p:cNvPr id="42" name="Shape 36"/>
          <p:cNvSpPr/>
          <p:nvPr/>
        </p:nvSpPr>
        <p:spPr>
          <a:xfrm>
            <a:off x="10266883" y="1673352"/>
            <a:ext cx="640080" cy="640080"/>
          </a:xfrm>
          <a:prstGeom prst="ellipse">
            <a:avLst/>
          </a:prstGeom>
          <a:solidFill>
            <a:srgbClr val="2E86DE"/>
          </a:solidFill>
          <a:ln/>
        </p:spPr>
      </p:sp>
      <p:pic>
        <p:nvPicPr>
          <p:cNvPr id="43" name="Image 4" descr="/home/claude/sql_pptx/icons/undo_white.png"/>
          <p:cNvPicPr>
            <a:picLocks noChangeAspect="1"/>
          </p:cNvPicPr>
          <p:nvPr/>
        </p:nvPicPr>
        <p:blipFill>
          <a:blip r:embed="rId7"/>
          <a:stretch>
            <a:fillRect/>
          </a:stretch>
        </p:blipFill>
        <p:spPr>
          <a:xfrm>
            <a:off x="10433304" y="1839773"/>
            <a:ext cx="307238" cy="307238"/>
          </a:xfrm>
          <a:prstGeom prst="rect">
            <a:avLst/>
          </a:prstGeom>
        </p:spPr>
      </p:pic>
      <p:sp>
        <p:nvSpPr>
          <p:cNvPr id="44" name="Text 37"/>
          <p:cNvSpPr/>
          <p:nvPr/>
        </p:nvSpPr>
        <p:spPr>
          <a:xfrm>
            <a:off x="9560966" y="2788920"/>
            <a:ext cx="2051914" cy="365760"/>
          </a:xfrm>
          <a:prstGeom prst="rect">
            <a:avLst/>
          </a:prstGeom>
          <a:noFill/>
          <a:ln/>
        </p:spPr>
        <p:txBody>
          <a:bodyPr wrap="square" lIns="0" tIns="0" rIns="0" bIns="0" rtlCol="0" anchor="ctr"/>
          <a:lstStyle/>
          <a:p>
            <a:pPr marL="0" indent="0" algn="ctr">
              <a:buNone/>
            </a:pPr>
            <a:r>
              <a:rPr lang="en-US" sz="1900" b="1" dirty="0">
                <a:solidFill>
                  <a:srgbClr val="16324F"/>
                </a:solidFill>
                <a:latin typeface="Cambria" pitchFamily="34" charset="0"/>
                <a:ea typeface="Cambria" pitchFamily="34" charset="-122"/>
                <a:cs typeface="Cambria" pitchFamily="34" charset="-120"/>
              </a:rPr>
              <a:t>TCL</a:t>
            </a:r>
            <a:endParaRPr lang="en-US" sz="1900" dirty="0"/>
          </a:p>
        </p:txBody>
      </p:sp>
      <p:sp>
        <p:nvSpPr>
          <p:cNvPr id="45" name="Text 38"/>
          <p:cNvSpPr/>
          <p:nvPr/>
        </p:nvSpPr>
        <p:spPr>
          <a:xfrm>
            <a:off x="9634118" y="3172968"/>
            <a:ext cx="1905610" cy="502920"/>
          </a:xfrm>
          <a:prstGeom prst="rect">
            <a:avLst/>
          </a:prstGeom>
          <a:noFill/>
          <a:ln/>
        </p:spPr>
        <p:txBody>
          <a:bodyPr wrap="square" lIns="0" tIns="0" rIns="0" bIns="0" rtlCol="0" anchor="ctr"/>
          <a:lstStyle/>
          <a:p>
            <a:pPr marL="0" indent="0" algn="ctr">
              <a:buNone/>
            </a:pPr>
            <a:r>
              <a:rPr lang="en-US" sz="1600" dirty="0">
                <a:solidFill>
                  <a:srgbClr val="5C7A99"/>
                </a:solidFill>
                <a:latin typeface="Calibri" pitchFamily="34" charset="0"/>
                <a:ea typeface="Calibri" pitchFamily="34" charset="-122"/>
                <a:cs typeface="Calibri" pitchFamily="34" charset="-120"/>
              </a:rPr>
              <a:t>Transaction Control</a:t>
            </a:r>
            <a:endParaRPr lang="en-US" sz="1600" dirty="0"/>
          </a:p>
        </p:txBody>
      </p:sp>
      <p:sp>
        <p:nvSpPr>
          <p:cNvPr id="46" name="Shape 39"/>
          <p:cNvSpPr/>
          <p:nvPr/>
        </p:nvSpPr>
        <p:spPr>
          <a:xfrm>
            <a:off x="9789566" y="3749040"/>
            <a:ext cx="1594714" cy="0"/>
          </a:xfrm>
          <a:prstGeom prst="line">
            <a:avLst/>
          </a:prstGeom>
          <a:noFill/>
          <a:ln w="12700">
            <a:solidFill>
              <a:srgbClr val="DCE7F5"/>
            </a:solidFill>
            <a:prstDash val="solid"/>
          </a:ln>
        </p:spPr>
      </p:sp>
      <p:sp>
        <p:nvSpPr>
          <p:cNvPr id="47" name="Text 40"/>
          <p:cNvSpPr/>
          <p:nvPr/>
        </p:nvSpPr>
        <p:spPr>
          <a:xfrm>
            <a:off x="9634118" y="3886200"/>
            <a:ext cx="1905610" cy="1645920"/>
          </a:xfrm>
          <a:prstGeom prst="rect">
            <a:avLst/>
          </a:prstGeom>
          <a:noFill/>
          <a:ln/>
        </p:spPr>
        <p:txBody>
          <a:bodyPr wrap="square" lIns="0" tIns="0" rIns="0" bIns="0" rtlCol="0" anchor="ctr"/>
          <a:lstStyle/>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COMMIT</a:t>
            </a:r>
            <a:endParaRPr lang="en-US" sz="1600" dirty="0"/>
          </a:p>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ROLLBACK</a:t>
            </a:r>
            <a:endParaRPr lang="en-US" sz="1600" dirty="0"/>
          </a:p>
          <a:p>
            <a:pPr marL="0" indent="0" algn="ctr">
              <a:lnSpc>
                <a:spcPct val="150000"/>
              </a:lnSpc>
              <a:buNone/>
            </a:pPr>
            <a:r>
              <a:rPr lang="en-US" sz="1600" b="1" dirty="0">
                <a:solidFill>
                  <a:srgbClr val="2E86DE"/>
                </a:solidFill>
                <a:latin typeface="Consolas" pitchFamily="34" charset="0"/>
                <a:ea typeface="Consolas" pitchFamily="34" charset="-122"/>
                <a:cs typeface="Consolas" pitchFamily="34" charset="-120"/>
              </a:rPr>
              <a:t>SAVEPOINT</a:t>
            </a:r>
            <a:endParaRPr lang="en-US" sz="1600" dirty="0"/>
          </a:p>
        </p:txBody>
      </p:sp>
      <p:sp>
        <p:nvSpPr>
          <p:cNvPr id="48" name="Text 41"/>
          <p:cNvSpPr/>
          <p:nvPr/>
        </p:nvSpPr>
        <p:spPr>
          <a:xfrm>
            <a:off x="457200" y="6537960"/>
            <a:ext cx="5486400" cy="274320"/>
          </a:xfrm>
          <a:prstGeom prst="rect">
            <a:avLst/>
          </a:prstGeom>
          <a:noFill/>
          <a:ln/>
        </p:spPr>
        <p:txBody>
          <a:bodyPr wrap="square" lIns="0" tIns="0" rIns="0" bIns="0"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SQL — Structured Query Language</a:t>
            </a:r>
            <a:endParaRPr lang="en-US" sz="900" dirty="0"/>
          </a:p>
        </p:txBody>
      </p:sp>
      <p:sp>
        <p:nvSpPr>
          <p:cNvPr id="49" name="Text 42"/>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D"/>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marL="0" indent="0" algn="l">
              <a:buNone/>
            </a:pPr>
            <a:r>
              <a:rPr lang="en-US" sz="3200" b="1" dirty="0">
                <a:solidFill>
                  <a:srgbClr val="16324F"/>
                </a:solidFill>
                <a:latin typeface="Cambria" pitchFamily="34" charset="0"/>
                <a:ea typeface="Cambria" pitchFamily="34" charset="-122"/>
                <a:cs typeface="Cambria" pitchFamily="34" charset="-120"/>
              </a:rPr>
              <a:t>Common SQL Queries</a:t>
            </a:r>
            <a:endParaRPr lang="en-US" sz="3200" dirty="0"/>
          </a:p>
        </p:txBody>
      </p:sp>
      <p:sp>
        <p:nvSpPr>
          <p:cNvPr id="3" name="Shape 1"/>
          <p:cNvSpPr/>
          <p:nvPr/>
        </p:nvSpPr>
        <p:spPr>
          <a:xfrm>
            <a:off x="548640" y="1417320"/>
            <a:ext cx="5394960" cy="1481328"/>
          </a:xfrm>
          <a:prstGeom prst="roundRect">
            <a:avLst>
              <a:gd name="adj" fmla="val 4938"/>
            </a:avLst>
          </a:prstGeom>
          <a:solidFill>
            <a:srgbClr val="0B2E59"/>
          </a:solidFill>
          <a:ln/>
          <a:effectLst>
            <a:outerShdw blurRad="63500" dist="25400" dir="5400000" algn="bl" rotWithShape="0">
              <a:srgbClr val="1B2733">
                <a:alpha val="15000"/>
              </a:srgbClr>
            </a:outerShdw>
          </a:effectLst>
        </p:spPr>
      </p:sp>
      <p:sp>
        <p:nvSpPr>
          <p:cNvPr id="4" name="Shape 2"/>
          <p:cNvSpPr/>
          <p:nvPr/>
        </p:nvSpPr>
        <p:spPr>
          <a:xfrm>
            <a:off x="713232" y="1563624"/>
            <a:ext cx="384048" cy="384048"/>
          </a:xfrm>
          <a:prstGeom prst="ellipse">
            <a:avLst/>
          </a:prstGeom>
          <a:solidFill>
            <a:srgbClr val="2E86DE"/>
          </a:solidFill>
          <a:ln/>
        </p:spPr>
      </p:sp>
      <p:pic>
        <p:nvPicPr>
          <p:cNvPr id="5" name="Image 0" descr="/home/claude/sql_pptx/icons/table_white.png"/>
          <p:cNvPicPr>
            <a:picLocks noChangeAspect="1"/>
          </p:cNvPicPr>
          <p:nvPr/>
        </p:nvPicPr>
        <p:blipFill>
          <a:blip r:embed="rId3"/>
          <a:stretch>
            <a:fillRect/>
          </a:stretch>
        </p:blipFill>
        <p:spPr>
          <a:xfrm>
            <a:off x="813084" y="1663476"/>
            <a:ext cx="184343" cy="184343"/>
          </a:xfrm>
          <a:prstGeom prst="rect">
            <a:avLst/>
          </a:prstGeom>
        </p:spPr>
      </p:pic>
      <p:sp>
        <p:nvSpPr>
          <p:cNvPr id="6" name="Text 3"/>
          <p:cNvSpPr/>
          <p:nvPr/>
        </p:nvSpPr>
        <p:spPr>
          <a:xfrm>
            <a:off x="1188720" y="1554480"/>
            <a:ext cx="4572000" cy="3657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CREATE TABLE</a:t>
            </a:r>
            <a:endParaRPr lang="en-US" dirty="0"/>
          </a:p>
        </p:txBody>
      </p:sp>
      <p:sp>
        <p:nvSpPr>
          <p:cNvPr id="7" name="Text 4"/>
          <p:cNvSpPr/>
          <p:nvPr/>
        </p:nvSpPr>
        <p:spPr>
          <a:xfrm>
            <a:off x="777240" y="1984248"/>
            <a:ext cx="4937760" cy="768096"/>
          </a:xfrm>
          <a:prstGeom prst="rect">
            <a:avLst/>
          </a:prstGeom>
          <a:noFill/>
          <a:ln/>
        </p:spPr>
        <p:txBody>
          <a:bodyPr wrap="square" lIns="0" tIns="0" rIns="0" bIns="0" rtlCol="0" anchor="t"/>
          <a:lstStyle/>
          <a:p>
            <a:pPr marL="0" indent="0">
              <a:lnSpc>
                <a:spcPct val="115000"/>
              </a:lnSpc>
              <a:buNone/>
            </a:pPr>
            <a:r>
              <a:rPr lang="en-US" sz="1200" dirty="0">
                <a:solidFill>
                  <a:srgbClr val="CFE7FF"/>
                </a:solidFill>
                <a:latin typeface="Consolas" pitchFamily="34" charset="0"/>
                <a:ea typeface="Consolas" pitchFamily="34" charset="-122"/>
                <a:cs typeface="Consolas" pitchFamily="34" charset="-120"/>
              </a:rPr>
              <a:t>CREATE TABLE Students (</a:t>
            </a:r>
            <a:endParaRPr lang="en-US" sz="1200" dirty="0"/>
          </a:p>
          <a:p>
            <a:pPr marL="0" indent="0">
              <a:lnSpc>
                <a:spcPct val="115000"/>
              </a:lnSpc>
              <a:buNone/>
            </a:pPr>
            <a:r>
              <a:rPr lang="en-US" sz="1200" dirty="0">
                <a:solidFill>
                  <a:srgbClr val="CFE7FF"/>
                </a:solidFill>
                <a:latin typeface="Consolas" pitchFamily="34" charset="0"/>
                <a:ea typeface="Consolas" pitchFamily="34" charset="-122"/>
                <a:cs typeface="Consolas" pitchFamily="34" charset="-120"/>
              </a:rPr>
              <a:t>  id INT PRIMARY KEY,</a:t>
            </a:r>
            <a:endParaRPr lang="en-US" sz="1200" dirty="0"/>
          </a:p>
          <a:p>
            <a:pPr marL="0" indent="0">
              <a:lnSpc>
                <a:spcPct val="115000"/>
              </a:lnSpc>
              <a:buNone/>
            </a:pPr>
            <a:r>
              <a:rPr lang="en-US" sz="1200" dirty="0">
                <a:solidFill>
                  <a:srgbClr val="CFE7FF"/>
                </a:solidFill>
                <a:latin typeface="Consolas" pitchFamily="34" charset="0"/>
                <a:ea typeface="Consolas" pitchFamily="34" charset="-122"/>
                <a:cs typeface="Consolas" pitchFamily="34" charset="-120"/>
              </a:rPr>
              <a:t>  name VARCHAR(50)</a:t>
            </a:r>
            <a:endParaRPr lang="en-US" sz="1200" dirty="0"/>
          </a:p>
          <a:p>
            <a:pPr marL="0" indent="0">
              <a:lnSpc>
                <a:spcPct val="115000"/>
              </a:lnSpc>
              <a:buNone/>
            </a:pPr>
            <a:r>
              <a:rPr lang="en-US" sz="1200" dirty="0">
                <a:solidFill>
                  <a:srgbClr val="CFE7FF"/>
                </a:solidFill>
                <a:latin typeface="Consolas" pitchFamily="34" charset="0"/>
                <a:ea typeface="Consolas" pitchFamily="34" charset="-122"/>
                <a:cs typeface="Consolas" pitchFamily="34" charset="-120"/>
              </a:rPr>
              <a:t>);</a:t>
            </a:r>
            <a:endParaRPr lang="en-US" sz="1200" dirty="0"/>
          </a:p>
        </p:txBody>
      </p:sp>
      <p:sp>
        <p:nvSpPr>
          <p:cNvPr id="8" name="Shape 5"/>
          <p:cNvSpPr/>
          <p:nvPr/>
        </p:nvSpPr>
        <p:spPr>
          <a:xfrm>
            <a:off x="548640" y="3118104"/>
            <a:ext cx="5394960" cy="1481328"/>
          </a:xfrm>
          <a:prstGeom prst="roundRect">
            <a:avLst>
              <a:gd name="adj" fmla="val 4938"/>
            </a:avLst>
          </a:prstGeom>
          <a:solidFill>
            <a:srgbClr val="0B2E59"/>
          </a:solidFill>
          <a:ln/>
          <a:effectLst>
            <a:outerShdw blurRad="63500" dist="25400" dir="5400000" algn="bl" rotWithShape="0">
              <a:srgbClr val="1B2733">
                <a:alpha val="15000"/>
              </a:srgbClr>
            </a:outerShdw>
          </a:effectLst>
        </p:spPr>
      </p:sp>
      <p:sp>
        <p:nvSpPr>
          <p:cNvPr id="9" name="Shape 6"/>
          <p:cNvSpPr/>
          <p:nvPr/>
        </p:nvSpPr>
        <p:spPr>
          <a:xfrm>
            <a:off x="713232" y="3264408"/>
            <a:ext cx="384048" cy="384048"/>
          </a:xfrm>
          <a:prstGeom prst="ellipse">
            <a:avLst/>
          </a:prstGeom>
          <a:solidFill>
            <a:srgbClr val="2E86DE"/>
          </a:solidFill>
          <a:ln/>
        </p:spPr>
      </p:sp>
      <p:pic>
        <p:nvPicPr>
          <p:cNvPr id="10" name="Image 1" descr="/home/claude/sql_pptx/icons/edit_white.png"/>
          <p:cNvPicPr>
            <a:picLocks noChangeAspect="1"/>
          </p:cNvPicPr>
          <p:nvPr/>
        </p:nvPicPr>
        <p:blipFill>
          <a:blip r:embed="rId4"/>
          <a:stretch>
            <a:fillRect/>
          </a:stretch>
        </p:blipFill>
        <p:spPr>
          <a:xfrm>
            <a:off x="813084" y="3364260"/>
            <a:ext cx="184343" cy="184343"/>
          </a:xfrm>
          <a:prstGeom prst="rect">
            <a:avLst/>
          </a:prstGeom>
        </p:spPr>
      </p:pic>
      <p:sp>
        <p:nvSpPr>
          <p:cNvPr id="11" name="Text 7"/>
          <p:cNvSpPr/>
          <p:nvPr/>
        </p:nvSpPr>
        <p:spPr>
          <a:xfrm>
            <a:off x="1188720" y="3255264"/>
            <a:ext cx="4572000" cy="3657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INSERT INTO</a:t>
            </a:r>
            <a:endParaRPr lang="en-US" dirty="0"/>
          </a:p>
        </p:txBody>
      </p:sp>
      <p:sp>
        <p:nvSpPr>
          <p:cNvPr id="12" name="Text 8"/>
          <p:cNvSpPr/>
          <p:nvPr/>
        </p:nvSpPr>
        <p:spPr>
          <a:xfrm>
            <a:off x="777240" y="3685032"/>
            <a:ext cx="4937760" cy="768096"/>
          </a:xfrm>
          <a:prstGeom prst="rect">
            <a:avLst/>
          </a:prstGeom>
          <a:noFill/>
          <a:ln/>
        </p:spPr>
        <p:txBody>
          <a:bodyPr wrap="square" lIns="0" tIns="0" rIns="0" bIns="0" rtlCol="0" anchor="t"/>
          <a:lstStyle/>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INSERT INTO Students (id, name)</a:t>
            </a:r>
            <a:endParaRPr lang="en-US" sz="1400" dirty="0"/>
          </a:p>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VALUES (1, 'Alex');</a:t>
            </a:r>
            <a:endParaRPr lang="en-US" sz="1400" dirty="0"/>
          </a:p>
        </p:txBody>
      </p:sp>
      <p:sp>
        <p:nvSpPr>
          <p:cNvPr id="13" name="Shape 9"/>
          <p:cNvSpPr/>
          <p:nvPr/>
        </p:nvSpPr>
        <p:spPr>
          <a:xfrm>
            <a:off x="548640" y="4818888"/>
            <a:ext cx="5394960" cy="1481328"/>
          </a:xfrm>
          <a:prstGeom prst="roundRect">
            <a:avLst>
              <a:gd name="adj" fmla="val 4938"/>
            </a:avLst>
          </a:prstGeom>
          <a:solidFill>
            <a:srgbClr val="0B2E59"/>
          </a:solidFill>
          <a:ln/>
          <a:effectLst>
            <a:outerShdw blurRad="63500" dist="25400" dir="5400000" algn="bl" rotWithShape="0">
              <a:srgbClr val="1B2733">
                <a:alpha val="15000"/>
              </a:srgbClr>
            </a:outerShdw>
          </a:effectLst>
        </p:spPr>
      </p:sp>
      <p:sp>
        <p:nvSpPr>
          <p:cNvPr id="14" name="Shape 10"/>
          <p:cNvSpPr/>
          <p:nvPr/>
        </p:nvSpPr>
        <p:spPr>
          <a:xfrm>
            <a:off x="713232" y="4965192"/>
            <a:ext cx="384048" cy="384048"/>
          </a:xfrm>
          <a:prstGeom prst="ellipse">
            <a:avLst/>
          </a:prstGeom>
          <a:solidFill>
            <a:srgbClr val="2E86DE"/>
          </a:solidFill>
          <a:ln/>
        </p:spPr>
      </p:sp>
      <p:pic>
        <p:nvPicPr>
          <p:cNvPr id="15" name="Image 2" descr="/home/claude/sql_pptx/icons/undo_white.png"/>
          <p:cNvPicPr>
            <a:picLocks noChangeAspect="1"/>
          </p:cNvPicPr>
          <p:nvPr/>
        </p:nvPicPr>
        <p:blipFill>
          <a:blip r:embed="rId5"/>
          <a:stretch>
            <a:fillRect/>
          </a:stretch>
        </p:blipFill>
        <p:spPr>
          <a:xfrm>
            <a:off x="813084" y="5065044"/>
            <a:ext cx="184343" cy="184343"/>
          </a:xfrm>
          <a:prstGeom prst="rect">
            <a:avLst/>
          </a:prstGeom>
        </p:spPr>
      </p:pic>
      <p:sp>
        <p:nvSpPr>
          <p:cNvPr id="16" name="Text 11"/>
          <p:cNvSpPr/>
          <p:nvPr/>
        </p:nvSpPr>
        <p:spPr>
          <a:xfrm>
            <a:off x="1188720" y="4956048"/>
            <a:ext cx="4572000" cy="3657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DELETE</a:t>
            </a:r>
            <a:endParaRPr lang="en-US" dirty="0"/>
          </a:p>
        </p:txBody>
      </p:sp>
      <p:sp>
        <p:nvSpPr>
          <p:cNvPr id="17" name="Text 12"/>
          <p:cNvSpPr/>
          <p:nvPr/>
        </p:nvSpPr>
        <p:spPr>
          <a:xfrm>
            <a:off x="777240" y="5385816"/>
            <a:ext cx="4937760" cy="768096"/>
          </a:xfrm>
          <a:prstGeom prst="rect">
            <a:avLst/>
          </a:prstGeom>
          <a:noFill/>
          <a:ln/>
        </p:spPr>
        <p:txBody>
          <a:bodyPr wrap="square" lIns="0" tIns="0" rIns="0" bIns="0" rtlCol="0" anchor="t"/>
          <a:lstStyle/>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DELETE FROM Students</a:t>
            </a:r>
            <a:endParaRPr lang="en-US" sz="1400" dirty="0"/>
          </a:p>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WHERE id = 1;</a:t>
            </a:r>
            <a:endParaRPr lang="en-US" sz="1400" dirty="0"/>
          </a:p>
        </p:txBody>
      </p:sp>
      <p:sp>
        <p:nvSpPr>
          <p:cNvPr id="18" name="Shape 13"/>
          <p:cNvSpPr/>
          <p:nvPr/>
        </p:nvSpPr>
        <p:spPr>
          <a:xfrm>
            <a:off x="6217920" y="1417320"/>
            <a:ext cx="5394960" cy="1481328"/>
          </a:xfrm>
          <a:prstGeom prst="roundRect">
            <a:avLst>
              <a:gd name="adj" fmla="val 4938"/>
            </a:avLst>
          </a:prstGeom>
          <a:solidFill>
            <a:srgbClr val="0B2E59"/>
          </a:solidFill>
          <a:ln/>
          <a:effectLst>
            <a:outerShdw blurRad="63500" dist="25400" dir="5400000" algn="bl" rotWithShape="0">
              <a:srgbClr val="1B2733">
                <a:alpha val="15000"/>
              </a:srgbClr>
            </a:outerShdw>
          </a:effectLst>
        </p:spPr>
        <p:txBody>
          <a:bodyPr/>
          <a:lstStyle/>
          <a:p>
            <a:endParaRPr lang="en-IN" dirty="0"/>
          </a:p>
        </p:txBody>
      </p:sp>
      <p:sp>
        <p:nvSpPr>
          <p:cNvPr id="19" name="Shape 14"/>
          <p:cNvSpPr/>
          <p:nvPr/>
        </p:nvSpPr>
        <p:spPr>
          <a:xfrm>
            <a:off x="6382512" y="1563624"/>
            <a:ext cx="384048" cy="384048"/>
          </a:xfrm>
          <a:prstGeom prst="ellipse">
            <a:avLst/>
          </a:prstGeom>
          <a:solidFill>
            <a:srgbClr val="2E86DE"/>
          </a:solidFill>
          <a:ln/>
        </p:spPr>
      </p:sp>
      <p:pic>
        <p:nvPicPr>
          <p:cNvPr id="20" name="Image 3" descr="/home/claude/sql_pptx/icons/search_white.png"/>
          <p:cNvPicPr>
            <a:picLocks noChangeAspect="1"/>
          </p:cNvPicPr>
          <p:nvPr/>
        </p:nvPicPr>
        <p:blipFill>
          <a:blip r:embed="rId6"/>
          <a:stretch>
            <a:fillRect/>
          </a:stretch>
        </p:blipFill>
        <p:spPr>
          <a:xfrm>
            <a:off x="6482364" y="1663476"/>
            <a:ext cx="184343" cy="184343"/>
          </a:xfrm>
          <a:prstGeom prst="rect">
            <a:avLst/>
          </a:prstGeom>
        </p:spPr>
      </p:pic>
      <p:sp>
        <p:nvSpPr>
          <p:cNvPr id="21" name="Text 15"/>
          <p:cNvSpPr/>
          <p:nvPr/>
        </p:nvSpPr>
        <p:spPr>
          <a:xfrm>
            <a:off x="6858000" y="1554480"/>
            <a:ext cx="4572000" cy="3657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SELECT</a:t>
            </a:r>
            <a:endParaRPr lang="en-US" dirty="0"/>
          </a:p>
        </p:txBody>
      </p:sp>
      <p:sp>
        <p:nvSpPr>
          <p:cNvPr id="22" name="Text 16"/>
          <p:cNvSpPr/>
          <p:nvPr/>
        </p:nvSpPr>
        <p:spPr>
          <a:xfrm>
            <a:off x="6446520" y="1984248"/>
            <a:ext cx="4937760" cy="768096"/>
          </a:xfrm>
          <a:prstGeom prst="rect">
            <a:avLst/>
          </a:prstGeom>
          <a:noFill/>
          <a:ln/>
        </p:spPr>
        <p:txBody>
          <a:bodyPr wrap="square" lIns="0" tIns="0" rIns="0" bIns="0" rtlCol="0" anchor="t"/>
          <a:lstStyle/>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SELECT name, id</a:t>
            </a:r>
            <a:endParaRPr lang="en-US" sz="1400" dirty="0"/>
          </a:p>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FROM Students</a:t>
            </a:r>
            <a:endParaRPr lang="en-US" sz="1400" dirty="0"/>
          </a:p>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WHERE id &gt; 0;</a:t>
            </a:r>
            <a:endParaRPr lang="en-US" sz="1400" dirty="0"/>
          </a:p>
        </p:txBody>
      </p:sp>
      <p:sp>
        <p:nvSpPr>
          <p:cNvPr id="23" name="Shape 17"/>
          <p:cNvSpPr/>
          <p:nvPr/>
        </p:nvSpPr>
        <p:spPr>
          <a:xfrm>
            <a:off x="6217920" y="3118104"/>
            <a:ext cx="5394960" cy="1481328"/>
          </a:xfrm>
          <a:prstGeom prst="roundRect">
            <a:avLst>
              <a:gd name="adj" fmla="val 4938"/>
            </a:avLst>
          </a:prstGeom>
          <a:solidFill>
            <a:srgbClr val="0B2E59"/>
          </a:solidFill>
          <a:ln/>
          <a:effectLst>
            <a:outerShdw blurRad="63500" dist="25400" dir="5400000" algn="bl" rotWithShape="0">
              <a:srgbClr val="1B2733">
                <a:alpha val="15000"/>
              </a:srgbClr>
            </a:outerShdw>
          </a:effectLst>
        </p:spPr>
      </p:sp>
      <p:sp>
        <p:nvSpPr>
          <p:cNvPr id="24" name="Shape 18"/>
          <p:cNvSpPr/>
          <p:nvPr/>
        </p:nvSpPr>
        <p:spPr>
          <a:xfrm>
            <a:off x="6382512" y="3264408"/>
            <a:ext cx="384048" cy="384048"/>
          </a:xfrm>
          <a:prstGeom prst="ellipse">
            <a:avLst/>
          </a:prstGeom>
          <a:solidFill>
            <a:srgbClr val="2E86DE"/>
          </a:solidFill>
          <a:ln/>
        </p:spPr>
      </p:sp>
      <p:pic>
        <p:nvPicPr>
          <p:cNvPr id="25" name="Image 4" descr="/home/claude/sql_pptx/icons/exchange_white.png"/>
          <p:cNvPicPr>
            <a:picLocks noChangeAspect="1"/>
          </p:cNvPicPr>
          <p:nvPr/>
        </p:nvPicPr>
        <p:blipFill>
          <a:blip r:embed="rId7"/>
          <a:stretch>
            <a:fillRect/>
          </a:stretch>
        </p:blipFill>
        <p:spPr>
          <a:xfrm>
            <a:off x="6482364" y="3364260"/>
            <a:ext cx="184343" cy="184343"/>
          </a:xfrm>
          <a:prstGeom prst="rect">
            <a:avLst/>
          </a:prstGeom>
        </p:spPr>
      </p:pic>
      <p:sp>
        <p:nvSpPr>
          <p:cNvPr id="26" name="Text 19"/>
          <p:cNvSpPr/>
          <p:nvPr/>
        </p:nvSpPr>
        <p:spPr>
          <a:xfrm>
            <a:off x="6858000" y="3255264"/>
            <a:ext cx="4572000" cy="3657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UPDATE</a:t>
            </a:r>
            <a:endParaRPr lang="en-US" dirty="0"/>
          </a:p>
        </p:txBody>
      </p:sp>
      <p:sp>
        <p:nvSpPr>
          <p:cNvPr id="27" name="Text 20"/>
          <p:cNvSpPr/>
          <p:nvPr/>
        </p:nvSpPr>
        <p:spPr>
          <a:xfrm>
            <a:off x="6446520" y="3685032"/>
            <a:ext cx="4937760" cy="768096"/>
          </a:xfrm>
          <a:prstGeom prst="rect">
            <a:avLst/>
          </a:prstGeom>
          <a:noFill/>
          <a:ln/>
        </p:spPr>
        <p:txBody>
          <a:bodyPr wrap="square" lIns="0" tIns="0" rIns="0" bIns="0" rtlCol="0" anchor="t"/>
          <a:lstStyle/>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UPDATE Students</a:t>
            </a:r>
            <a:endParaRPr lang="en-US" sz="1400" dirty="0"/>
          </a:p>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SET name = 'Alexa'</a:t>
            </a:r>
            <a:endParaRPr lang="en-US" sz="1400" dirty="0"/>
          </a:p>
          <a:p>
            <a:pPr marL="0" indent="0">
              <a:lnSpc>
                <a:spcPct val="115000"/>
              </a:lnSpc>
              <a:buNone/>
            </a:pPr>
            <a:r>
              <a:rPr lang="en-US" sz="1400" dirty="0">
                <a:solidFill>
                  <a:srgbClr val="CFE7FF"/>
                </a:solidFill>
                <a:latin typeface="Consolas" pitchFamily="34" charset="0"/>
                <a:ea typeface="Consolas" pitchFamily="34" charset="-122"/>
                <a:cs typeface="Consolas" pitchFamily="34" charset="-120"/>
              </a:rPr>
              <a:t>WHERE id = 1;</a:t>
            </a:r>
            <a:endParaRPr lang="en-US" sz="1400" dirty="0"/>
          </a:p>
        </p:txBody>
      </p:sp>
      <p:sp>
        <p:nvSpPr>
          <p:cNvPr id="28" name="Shape 21"/>
          <p:cNvSpPr/>
          <p:nvPr/>
        </p:nvSpPr>
        <p:spPr>
          <a:xfrm>
            <a:off x="6217920" y="4818888"/>
            <a:ext cx="5394960" cy="1481328"/>
          </a:xfrm>
          <a:prstGeom prst="roundRect">
            <a:avLst>
              <a:gd name="adj" fmla="val 4938"/>
            </a:avLst>
          </a:prstGeom>
          <a:solidFill>
            <a:srgbClr val="FFFFFF"/>
          </a:solidFill>
          <a:ln/>
          <a:effectLst>
            <a:outerShdw blurRad="63500" dist="25400" dir="5400000" algn="bl" rotWithShape="0">
              <a:srgbClr val="1B2733">
                <a:alpha val="10000"/>
              </a:srgbClr>
            </a:outerShdw>
          </a:effectLst>
        </p:spPr>
      </p:sp>
      <p:sp>
        <p:nvSpPr>
          <p:cNvPr id="29" name="Shape 22"/>
          <p:cNvSpPr/>
          <p:nvPr/>
        </p:nvSpPr>
        <p:spPr>
          <a:xfrm>
            <a:off x="6419088" y="5038344"/>
            <a:ext cx="502920" cy="502920"/>
          </a:xfrm>
          <a:prstGeom prst="ellipse">
            <a:avLst/>
          </a:prstGeom>
          <a:solidFill>
            <a:srgbClr val="E8F1FB"/>
          </a:solidFill>
          <a:ln/>
        </p:spPr>
      </p:sp>
      <p:pic>
        <p:nvPicPr>
          <p:cNvPr id="30" name="Image 5" descr="/home/claude/sql_pptx/icons/checkcircle_blue.png"/>
          <p:cNvPicPr>
            <a:picLocks noChangeAspect="1"/>
          </p:cNvPicPr>
          <p:nvPr/>
        </p:nvPicPr>
        <p:blipFill>
          <a:blip r:embed="rId8"/>
          <a:stretch>
            <a:fillRect/>
          </a:stretch>
        </p:blipFill>
        <p:spPr>
          <a:xfrm>
            <a:off x="6549847" y="5169103"/>
            <a:ext cx="241402" cy="241402"/>
          </a:xfrm>
          <a:prstGeom prst="rect">
            <a:avLst/>
          </a:prstGeom>
        </p:spPr>
      </p:pic>
      <p:sp>
        <p:nvSpPr>
          <p:cNvPr id="31" name="Text 23"/>
          <p:cNvSpPr/>
          <p:nvPr/>
        </p:nvSpPr>
        <p:spPr>
          <a:xfrm>
            <a:off x="7086600" y="5001768"/>
            <a:ext cx="434340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Best Practice</a:t>
            </a:r>
            <a:endParaRPr lang="en-US" dirty="0"/>
          </a:p>
        </p:txBody>
      </p:sp>
      <p:sp>
        <p:nvSpPr>
          <p:cNvPr id="32" name="Text 24"/>
          <p:cNvSpPr/>
          <p:nvPr/>
        </p:nvSpPr>
        <p:spPr>
          <a:xfrm>
            <a:off x="7086600" y="5330952"/>
            <a:ext cx="4343400" cy="822960"/>
          </a:xfrm>
          <a:prstGeom prst="rect">
            <a:avLst/>
          </a:prstGeom>
          <a:noFill/>
          <a:ln/>
        </p:spPr>
        <p:txBody>
          <a:bodyPr wrap="square" lIns="0" tIns="0" rIns="0" bIns="0" rtlCol="0" anchor="ctr"/>
          <a:lstStyle/>
          <a:p>
            <a:pPr marL="0" indent="0">
              <a:buNone/>
            </a:pPr>
            <a:r>
              <a:rPr lang="en-US" sz="1400" dirty="0">
                <a:solidFill>
                  <a:srgbClr val="5C7A99"/>
                </a:solidFill>
                <a:latin typeface="Calibri" pitchFamily="34" charset="0"/>
                <a:ea typeface="Calibri" pitchFamily="34" charset="-122"/>
                <a:cs typeface="Calibri" pitchFamily="34" charset="-120"/>
              </a:rPr>
              <a:t>End every statement with a semicolon and use WHERE carefully to target the right rows.</a:t>
            </a:r>
            <a:endParaRPr lang="en-US" sz="1400" dirty="0"/>
          </a:p>
        </p:txBody>
      </p:sp>
      <p:sp>
        <p:nvSpPr>
          <p:cNvPr id="33" name="Text 25"/>
          <p:cNvSpPr/>
          <p:nvPr/>
        </p:nvSpPr>
        <p:spPr>
          <a:xfrm>
            <a:off x="457200" y="6537960"/>
            <a:ext cx="5486400" cy="274320"/>
          </a:xfrm>
          <a:prstGeom prst="rect">
            <a:avLst/>
          </a:prstGeom>
          <a:noFill/>
          <a:ln/>
        </p:spPr>
        <p:txBody>
          <a:bodyPr wrap="square" lIns="0" tIns="0" rIns="0" bIns="0"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SQL — Structured Query Language</a:t>
            </a:r>
            <a:endParaRPr lang="en-US" sz="900" dirty="0"/>
          </a:p>
        </p:txBody>
      </p:sp>
      <p:sp>
        <p:nvSpPr>
          <p:cNvPr id="34" name="Text 2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D"/>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marL="0" indent="0" algn="l">
              <a:buNone/>
            </a:pPr>
            <a:r>
              <a:rPr lang="en-US" sz="3200" b="1" dirty="0">
                <a:solidFill>
                  <a:srgbClr val="16324F"/>
                </a:solidFill>
                <a:latin typeface="Cambria" pitchFamily="34" charset="0"/>
                <a:ea typeface="Cambria" pitchFamily="34" charset="-122"/>
                <a:cs typeface="Cambria" pitchFamily="34" charset="-120"/>
              </a:rPr>
              <a:t>SQL Clauses &amp; Functions</a:t>
            </a:r>
            <a:endParaRPr lang="en-US" sz="3200" dirty="0"/>
          </a:p>
        </p:txBody>
      </p:sp>
      <p:sp>
        <p:nvSpPr>
          <p:cNvPr id="3" name="Text 1"/>
          <p:cNvSpPr/>
          <p:nvPr/>
        </p:nvSpPr>
        <p:spPr>
          <a:xfrm>
            <a:off x="548640" y="1188720"/>
            <a:ext cx="548640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Clauses</a:t>
            </a:r>
            <a:endParaRPr lang="en-US" dirty="0"/>
          </a:p>
        </p:txBody>
      </p:sp>
      <p:sp>
        <p:nvSpPr>
          <p:cNvPr id="4" name="Shape 2"/>
          <p:cNvSpPr/>
          <p:nvPr/>
        </p:nvSpPr>
        <p:spPr>
          <a:xfrm>
            <a:off x="548640" y="1600200"/>
            <a:ext cx="2697480" cy="2148840"/>
          </a:xfrm>
          <a:prstGeom prst="roundRect">
            <a:avLst>
              <a:gd name="adj" fmla="val 3830"/>
            </a:avLst>
          </a:prstGeom>
          <a:solidFill>
            <a:srgbClr val="FFFFFF"/>
          </a:solidFill>
          <a:ln/>
          <a:effectLst>
            <a:outerShdw blurRad="63500" dist="25400" dir="5400000" algn="bl" rotWithShape="0">
              <a:srgbClr val="1B2733">
                <a:alpha val="10000"/>
              </a:srgbClr>
            </a:outerShdw>
          </a:effectLst>
        </p:spPr>
      </p:sp>
      <p:sp>
        <p:nvSpPr>
          <p:cNvPr id="5" name="Shape 3"/>
          <p:cNvSpPr/>
          <p:nvPr/>
        </p:nvSpPr>
        <p:spPr>
          <a:xfrm>
            <a:off x="749808" y="1892808"/>
            <a:ext cx="594360" cy="594360"/>
          </a:xfrm>
          <a:prstGeom prst="ellipse">
            <a:avLst/>
          </a:prstGeom>
          <a:solidFill>
            <a:srgbClr val="E8F1FB"/>
          </a:solidFill>
          <a:ln/>
        </p:spPr>
      </p:sp>
      <p:pic>
        <p:nvPicPr>
          <p:cNvPr id="6" name="Image 0" descr="/home/claude/sql_pptx/icons/filter_blue.png"/>
          <p:cNvPicPr>
            <a:picLocks noChangeAspect="1"/>
          </p:cNvPicPr>
          <p:nvPr/>
        </p:nvPicPr>
        <p:blipFill>
          <a:blip r:embed="rId3"/>
          <a:stretch>
            <a:fillRect/>
          </a:stretch>
        </p:blipFill>
        <p:spPr>
          <a:xfrm>
            <a:off x="904342" y="2047342"/>
            <a:ext cx="285293" cy="285293"/>
          </a:xfrm>
          <a:prstGeom prst="rect">
            <a:avLst/>
          </a:prstGeom>
        </p:spPr>
      </p:pic>
      <p:sp>
        <p:nvSpPr>
          <p:cNvPr id="7" name="Text 4"/>
          <p:cNvSpPr/>
          <p:nvPr/>
        </p:nvSpPr>
        <p:spPr>
          <a:xfrm>
            <a:off x="749808" y="2651760"/>
            <a:ext cx="2295144" cy="320040"/>
          </a:xfrm>
          <a:prstGeom prst="rect">
            <a:avLst/>
          </a:prstGeom>
          <a:noFill/>
          <a:ln/>
        </p:spPr>
        <p:txBody>
          <a:bodyPr wrap="square" lIns="0" tIns="0" rIns="0" bIns="0" rtlCol="0" anchor="ctr"/>
          <a:lstStyle/>
          <a:p>
            <a:pPr marL="0" indent="0">
              <a:buNone/>
            </a:pPr>
            <a:r>
              <a:rPr lang="en-US" sz="1500" b="1" dirty="0">
                <a:solidFill>
                  <a:srgbClr val="16324F"/>
                </a:solidFill>
                <a:latin typeface="Consolas" pitchFamily="34" charset="0"/>
                <a:ea typeface="Consolas" pitchFamily="34" charset="-122"/>
                <a:cs typeface="Consolas" pitchFamily="34" charset="-120"/>
              </a:rPr>
              <a:t>WHERE</a:t>
            </a:r>
            <a:endParaRPr lang="en-US" sz="1500" dirty="0"/>
          </a:p>
        </p:txBody>
      </p:sp>
      <p:sp>
        <p:nvSpPr>
          <p:cNvPr id="8" name="Text 5"/>
          <p:cNvSpPr/>
          <p:nvPr/>
        </p:nvSpPr>
        <p:spPr>
          <a:xfrm>
            <a:off x="749808" y="3017520"/>
            <a:ext cx="2295144" cy="502920"/>
          </a:xfrm>
          <a:prstGeom prst="rect">
            <a:avLst/>
          </a:prstGeom>
          <a:noFill/>
          <a:ln/>
        </p:spPr>
        <p:txBody>
          <a:bodyPr wrap="square" lIns="0" tIns="0" rIns="0" bIns="0" rtlCol="0" anchor="ctr"/>
          <a:lstStyle/>
          <a:p>
            <a:pPr marL="0" indent="0">
              <a:buNone/>
            </a:pPr>
            <a:r>
              <a:rPr lang="en-US" sz="1400" dirty="0">
                <a:solidFill>
                  <a:srgbClr val="5C7A99"/>
                </a:solidFill>
                <a:latin typeface="Calibri" pitchFamily="34" charset="0"/>
                <a:ea typeface="Calibri" pitchFamily="34" charset="-122"/>
                <a:cs typeface="Calibri" pitchFamily="34" charset="-120"/>
              </a:rPr>
              <a:t>Filters rows by condition</a:t>
            </a:r>
            <a:endParaRPr lang="en-US" sz="1400" dirty="0"/>
          </a:p>
        </p:txBody>
      </p:sp>
      <p:sp>
        <p:nvSpPr>
          <p:cNvPr id="9" name="Shape 6"/>
          <p:cNvSpPr/>
          <p:nvPr/>
        </p:nvSpPr>
        <p:spPr>
          <a:xfrm>
            <a:off x="3392424" y="1600200"/>
            <a:ext cx="2697480" cy="2148840"/>
          </a:xfrm>
          <a:prstGeom prst="roundRect">
            <a:avLst>
              <a:gd name="adj" fmla="val 3830"/>
            </a:avLst>
          </a:prstGeom>
          <a:solidFill>
            <a:srgbClr val="FFFFFF"/>
          </a:solidFill>
          <a:ln/>
          <a:effectLst>
            <a:outerShdw blurRad="63500" dist="25400" dir="5400000" algn="bl" rotWithShape="0">
              <a:srgbClr val="1B2733">
                <a:alpha val="10000"/>
              </a:srgbClr>
            </a:outerShdw>
          </a:effectLst>
        </p:spPr>
      </p:sp>
      <p:sp>
        <p:nvSpPr>
          <p:cNvPr id="10" name="Shape 7"/>
          <p:cNvSpPr/>
          <p:nvPr/>
        </p:nvSpPr>
        <p:spPr>
          <a:xfrm>
            <a:off x="3593592" y="1892808"/>
            <a:ext cx="594360" cy="594360"/>
          </a:xfrm>
          <a:prstGeom prst="ellipse">
            <a:avLst/>
          </a:prstGeom>
          <a:solidFill>
            <a:srgbClr val="E8F1FB"/>
          </a:solidFill>
          <a:ln/>
        </p:spPr>
      </p:sp>
      <p:pic>
        <p:nvPicPr>
          <p:cNvPr id="11" name="Image 1" descr="/home/claude/sql_pptx/icons/sort_blue.png"/>
          <p:cNvPicPr>
            <a:picLocks noChangeAspect="1"/>
          </p:cNvPicPr>
          <p:nvPr/>
        </p:nvPicPr>
        <p:blipFill>
          <a:blip r:embed="rId4"/>
          <a:stretch>
            <a:fillRect/>
          </a:stretch>
        </p:blipFill>
        <p:spPr>
          <a:xfrm>
            <a:off x="3748126" y="2047342"/>
            <a:ext cx="285293" cy="285293"/>
          </a:xfrm>
          <a:prstGeom prst="rect">
            <a:avLst/>
          </a:prstGeom>
        </p:spPr>
      </p:pic>
      <p:sp>
        <p:nvSpPr>
          <p:cNvPr id="12" name="Text 8"/>
          <p:cNvSpPr/>
          <p:nvPr/>
        </p:nvSpPr>
        <p:spPr>
          <a:xfrm>
            <a:off x="3593592" y="2651760"/>
            <a:ext cx="2295144" cy="320040"/>
          </a:xfrm>
          <a:prstGeom prst="rect">
            <a:avLst/>
          </a:prstGeom>
          <a:noFill/>
          <a:ln/>
        </p:spPr>
        <p:txBody>
          <a:bodyPr wrap="square" lIns="0" tIns="0" rIns="0" bIns="0" rtlCol="0" anchor="ctr"/>
          <a:lstStyle/>
          <a:p>
            <a:pPr marL="0" indent="0">
              <a:buNone/>
            </a:pPr>
            <a:r>
              <a:rPr lang="en-US" sz="1500" b="1" dirty="0">
                <a:solidFill>
                  <a:srgbClr val="16324F"/>
                </a:solidFill>
                <a:latin typeface="Consolas" pitchFamily="34" charset="0"/>
                <a:ea typeface="Consolas" pitchFamily="34" charset="-122"/>
                <a:cs typeface="Consolas" pitchFamily="34" charset="-120"/>
              </a:rPr>
              <a:t>ORDER BY</a:t>
            </a:r>
            <a:endParaRPr lang="en-US" sz="1500" dirty="0"/>
          </a:p>
        </p:txBody>
      </p:sp>
      <p:sp>
        <p:nvSpPr>
          <p:cNvPr id="13" name="Text 9"/>
          <p:cNvSpPr/>
          <p:nvPr/>
        </p:nvSpPr>
        <p:spPr>
          <a:xfrm>
            <a:off x="3593592" y="3017520"/>
            <a:ext cx="2295144" cy="502920"/>
          </a:xfrm>
          <a:prstGeom prst="rect">
            <a:avLst/>
          </a:prstGeom>
          <a:noFill/>
          <a:ln/>
        </p:spPr>
        <p:txBody>
          <a:bodyPr wrap="square" lIns="0" tIns="0" rIns="0" bIns="0" rtlCol="0" anchor="ctr"/>
          <a:lstStyle/>
          <a:p>
            <a:pPr marL="0" indent="0">
              <a:buNone/>
            </a:pPr>
            <a:r>
              <a:rPr lang="en-US" sz="1400" dirty="0">
                <a:solidFill>
                  <a:srgbClr val="5C7A99"/>
                </a:solidFill>
                <a:latin typeface="Calibri" pitchFamily="34" charset="0"/>
                <a:ea typeface="Calibri" pitchFamily="34" charset="-122"/>
                <a:cs typeface="Calibri" pitchFamily="34" charset="-120"/>
              </a:rPr>
              <a:t>Sorts result rows</a:t>
            </a:r>
            <a:endParaRPr lang="en-US" sz="1400" dirty="0"/>
          </a:p>
        </p:txBody>
      </p:sp>
      <p:sp>
        <p:nvSpPr>
          <p:cNvPr id="14" name="Shape 10"/>
          <p:cNvSpPr/>
          <p:nvPr/>
        </p:nvSpPr>
        <p:spPr>
          <a:xfrm>
            <a:off x="548640" y="3895344"/>
            <a:ext cx="2697480" cy="2148840"/>
          </a:xfrm>
          <a:prstGeom prst="roundRect">
            <a:avLst>
              <a:gd name="adj" fmla="val 3830"/>
            </a:avLst>
          </a:prstGeom>
          <a:solidFill>
            <a:srgbClr val="FFFFFF"/>
          </a:solidFill>
          <a:ln/>
          <a:effectLst>
            <a:outerShdw blurRad="63500" dist="25400" dir="5400000" algn="bl" rotWithShape="0">
              <a:srgbClr val="1B2733">
                <a:alpha val="10000"/>
              </a:srgbClr>
            </a:outerShdw>
          </a:effectLst>
        </p:spPr>
      </p:sp>
      <p:sp>
        <p:nvSpPr>
          <p:cNvPr id="15" name="Shape 11"/>
          <p:cNvSpPr/>
          <p:nvPr/>
        </p:nvSpPr>
        <p:spPr>
          <a:xfrm>
            <a:off x="749808" y="4187952"/>
            <a:ext cx="594360" cy="594360"/>
          </a:xfrm>
          <a:prstGeom prst="ellipse">
            <a:avLst/>
          </a:prstGeom>
          <a:solidFill>
            <a:srgbClr val="E8F1FB"/>
          </a:solidFill>
          <a:ln/>
        </p:spPr>
      </p:sp>
      <p:pic>
        <p:nvPicPr>
          <p:cNvPr id="16" name="Image 2" descr="/home/claude/sql_pptx/icons/objectgroup_blue.png"/>
          <p:cNvPicPr>
            <a:picLocks noChangeAspect="1"/>
          </p:cNvPicPr>
          <p:nvPr/>
        </p:nvPicPr>
        <p:blipFill>
          <a:blip r:embed="rId5"/>
          <a:stretch>
            <a:fillRect/>
          </a:stretch>
        </p:blipFill>
        <p:spPr>
          <a:xfrm>
            <a:off x="904342" y="4342486"/>
            <a:ext cx="285293" cy="285293"/>
          </a:xfrm>
          <a:prstGeom prst="rect">
            <a:avLst/>
          </a:prstGeom>
        </p:spPr>
      </p:pic>
      <p:sp>
        <p:nvSpPr>
          <p:cNvPr id="17" name="Text 12"/>
          <p:cNvSpPr/>
          <p:nvPr/>
        </p:nvSpPr>
        <p:spPr>
          <a:xfrm>
            <a:off x="749808" y="4946904"/>
            <a:ext cx="2295144" cy="320040"/>
          </a:xfrm>
          <a:prstGeom prst="rect">
            <a:avLst/>
          </a:prstGeom>
          <a:noFill/>
          <a:ln/>
        </p:spPr>
        <p:txBody>
          <a:bodyPr wrap="square" lIns="0" tIns="0" rIns="0" bIns="0" rtlCol="0" anchor="ctr"/>
          <a:lstStyle/>
          <a:p>
            <a:pPr marL="0" indent="0">
              <a:buNone/>
            </a:pPr>
            <a:r>
              <a:rPr lang="en-US" sz="1500" b="1" dirty="0">
                <a:solidFill>
                  <a:srgbClr val="16324F"/>
                </a:solidFill>
                <a:latin typeface="Consolas" pitchFamily="34" charset="0"/>
                <a:ea typeface="Consolas" pitchFamily="34" charset="-122"/>
                <a:cs typeface="Consolas" pitchFamily="34" charset="-120"/>
              </a:rPr>
              <a:t>GROUP BY</a:t>
            </a:r>
            <a:endParaRPr lang="en-US" sz="1500" dirty="0"/>
          </a:p>
        </p:txBody>
      </p:sp>
      <p:sp>
        <p:nvSpPr>
          <p:cNvPr id="18" name="Text 13"/>
          <p:cNvSpPr/>
          <p:nvPr/>
        </p:nvSpPr>
        <p:spPr>
          <a:xfrm>
            <a:off x="749808" y="5312664"/>
            <a:ext cx="2295144" cy="502920"/>
          </a:xfrm>
          <a:prstGeom prst="rect">
            <a:avLst/>
          </a:prstGeom>
          <a:noFill/>
          <a:ln/>
        </p:spPr>
        <p:txBody>
          <a:bodyPr wrap="square" lIns="0" tIns="0" rIns="0" bIns="0" rtlCol="0" anchor="ctr"/>
          <a:lstStyle/>
          <a:p>
            <a:pPr marL="0" indent="0">
              <a:buNone/>
            </a:pPr>
            <a:r>
              <a:rPr lang="en-US" sz="1400" dirty="0">
                <a:solidFill>
                  <a:srgbClr val="5C7A99"/>
                </a:solidFill>
                <a:latin typeface="Calibri" pitchFamily="34" charset="0"/>
                <a:ea typeface="Calibri" pitchFamily="34" charset="-122"/>
                <a:cs typeface="Calibri" pitchFamily="34" charset="-120"/>
              </a:rPr>
              <a:t>Groups rows sharing values</a:t>
            </a:r>
            <a:endParaRPr lang="en-US" sz="1400" dirty="0"/>
          </a:p>
        </p:txBody>
      </p:sp>
      <p:sp>
        <p:nvSpPr>
          <p:cNvPr id="19" name="Shape 14"/>
          <p:cNvSpPr/>
          <p:nvPr/>
        </p:nvSpPr>
        <p:spPr>
          <a:xfrm>
            <a:off x="3392424" y="3895344"/>
            <a:ext cx="2697480" cy="2148840"/>
          </a:xfrm>
          <a:prstGeom prst="roundRect">
            <a:avLst>
              <a:gd name="adj" fmla="val 3830"/>
            </a:avLst>
          </a:prstGeom>
          <a:solidFill>
            <a:srgbClr val="FFFFFF"/>
          </a:solidFill>
          <a:ln/>
          <a:effectLst>
            <a:outerShdw blurRad="63500" dist="25400" dir="5400000" algn="bl" rotWithShape="0">
              <a:srgbClr val="1B2733">
                <a:alpha val="10000"/>
              </a:srgbClr>
            </a:outerShdw>
          </a:effectLst>
        </p:spPr>
        <p:txBody>
          <a:bodyPr/>
          <a:lstStyle/>
          <a:p>
            <a:endParaRPr lang="en-IN" dirty="0"/>
          </a:p>
        </p:txBody>
      </p:sp>
      <p:sp>
        <p:nvSpPr>
          <p:cNvPr id="20" name="Shape 15"/>
          <p:cNvSpPr/>
          <p:nvPr/>
        </p:nvSpPr>
        <p:spPr>
          <a:xfrm>
            <a:off x="3593592" y="4187952"/>
            <a:ext cx="594360" cy="594360"/>
          </a:xfrm>
          <a:prstGeom prst="ellipse">
            <a:avLst/>
          </a:prstGeom>
          <a:solidFill>
            <a:srgbClr val="E8F1FB"/>
          </a:solidFill>
          <a:ln/>
        </p:spPr>
      </p:sp>
      <p:pic>
        <p:nvPicPr>
          <p:cNvPr id="21" name="Image 3" descr="/home/claude/sql_pptx/icons/checkcircle_blue.png"/>
          <p:cNvPicPr>
            <a:picLocks noChangeAspect="1"/>
          </p:cNvPicPr>
          <p:nvPr/>
        </p:nvPicPr>
        <p:blipFill>
          <a:blip r:embed="rId6"/>
          <a:stretch>
            <a:fillRect/>
          </a:stretch>
        </p:blipFill>
        <p:spPr>
          <a:xfrm>
            <a:off x="3748126" y="4342486"/>
            <a:ext cx="285293" cy="285293"/>
          </a:xfrm>
          <a:prstGeom prst="rect">
            <a:avLst/>
          </a:prstGeom>
        </p:spPr>
      </p:pic>
      <p:sp>
        <p:nvSpPr>
          <p:cNvPr id="22" name="Text 16"/>
          <p:cNvSpPr/>
          <p:nvPr/>
        </p:nvSpPr>
        <p:spPr>
          <a:xfrm>
            <a:off x="3593592" y="4946904"/>
            <a:ext cx="2295144" cy="320040"/>
          </a:xfrm>
          <a:prstGeom prst="rect">
            <a:avLst/>
          </a:prstGeom>
          <a:noFill/>
          <a:ln/>
        </p:spPr>
        <p:txBody>
          <a:bodyPr wrap="square" lIns="0" tIns="0" rIns="0" bIns="0" rtlCol="0" anchor="ctr"/>
          <a:lstStyle/>
          <a:p>
            <a:pPr marL="0" indent="0">
              <a:buNone/>
            </a:pPr>
            <a:r>
              <a:rPr lang="en-US" sz="1500" b="1" dirty="0">
                <a:solidFill>
                  <a:srgbClr val="16324F"/>
                </a:solidFill>
                <a:latin typeface="Consolas" pitchFamily="34" charset="0"/>
                <a:ea typeface="Consolas" pitchFamily="34" charset="-122"/>
                <a:cs typeface="Consolas" pitchFamily="34" charset="-120"/>
              </a:rPr>
              <a:t>HAVING</a:t>
            </a:r>
            <a:endParaRPr lang="en-US" sz="1500" dirty="0"/>
          </a:p>
        </p:txBody>
      </p:sp>
      <p:sp>
        <p:nvSpPr>
          <p:cNvPr id="23" name="Text 17"/>
          <p:cNvSpPr/>
          <p:nvPr/>
        </p:nvSpPr>
        <p:spPr>
          <a:xfrm>
            <a:off x="3593592" y="5312664"/>
            <a:ext cx="2295144" cy="502920"/>
          </a:xfrm>
          <a:prstGeom prst="rect">
            <a:avLst/>
          </a:prstGeom>
          <a:noFill/>
          <a:ln/>
        </p:spPr>
        <p:txBody>
          <a:bodyPr wrap="square" lIns="0" tIns="0" rIns="0" bIns="0" rtlCol="0" anchor="ctr"/>
          <a:lstStyle/>
          <a:p>
            <a:pPr marL="0" indent="0">
              <a:buNone/>
            </a:pPr>
            <a:r>
              <a:rPr lang="en-US" sz="1400" dirty="0">
                <a:solidFill>
                  <a:srgbClr val="5C7A99"/>
                </a:solidFill>
                <a:latin typeface="Calibri" pitchFamily="34" charset="0"/>
                <a:ea typeface="Calibri" pitchFamily="34" charset="-122"/>
                <a:cs typeface="Calibri" pitchFamily="34" charset="-120"/>
              </a:rPr>
              <a:t>Filters grouped results</a:t>
            </a:r>
            <a:endParaRPr lang="en-US" sz="1400" dirty="0"/>
          </a:p>
        </p:txBody>
      </p:sp>
      <p:sp>
        <p:nvSpPr>
          <p:cNvPr id="24" name="Text 18"/>
          <p:cNvSpPr/>
          <p:nvPr/>
        </p:nvSpPr>
        <p:spPr>
          <a:xfrm>
            <a:off x="6263640" y="1188720"/>
            <a:ext cx="5349240" cy="320040"/>
          </a:xfrm>
          <a:prstGeom prst="rect">
            <a:avLst/>
          </a:prstGeom>
          <a:noFill/>
          <a:ln/>
        </p:spPr>
        <p:txBody>
          <a:bodyPr wrap="square" lIns="0" tIns="0" rIns="0" bIns="0" rtlCol="0" anchor="ctr"/>
          <a:lstStyle/>
          <a:p>
            <a:pPr marL="0" indent="0">
              <a:buNone/>
            </a:pPr>
            <a:r>
              <a:rPr lang="en-US" b="1" dirty="0">
                <a:solidFill>
                  <a:srgbClr val="16324F"/>
                </a:solidFill>
                <a:latin typeface="Calibri" pitchFamily="34" charset="0"/>
                <a:ea typeface="Calibri" pitchFamily="34" charset="-122"/>
                <a:cs typeface="Calibri" pitchFamily="34" charset="-120"/>
              </a:rPr>
              <a:t>Aggregate Functions</a:t>
            </a:r>
            <a:endParaRPr lang="en-US" dirty="0"/>
          </a:p>
        </p:txBody>
      </p:sp>
      <p:sp>
        <p:nvSpPr>
          <p:cNvPr id="25" name="Shape 19"/>
          <p:cNvSpPr/>
          <p:nvPr/>
        </p:nvSpPr>
        <p:spPr>
          <a:xfrm>
            <a:off x="6263640" y="1600200"/>
            <a:ext cx="5349240" cy="4480560"/>
          </a:xfrm>
          <a:prstGeom prst="roundRect">
            <a:avLst>
              <a:gd name="adj" fmla="val 2041"/>
            </a:avLst>
          </a:prstGeom>
          <a:solidFill>
            <a:srgbClr val="0B2E59"/>
          </a:solidFill>
          <a:ln/>
        </p:spPr>
        <p:txBody>
          <a:bodyPr/>
          <a:lstStyle/>
          <a:p>
            <a:endParaRPr lang="en-IN" dirty="0"/>
          </a:p>
        </p:txBody>
      </p:sp>
      <p:sp>
        <p:nvSpPr>
          <p:cNvPr id="26" name="Shape 20"/>
          <p:cNvSpPr/>
          <p:nvPr/>
        </p:nvSpPr>
        <p:spPr>
          <a:xfrm>
            <a:off x="6537960" y="1828800"/>
            <a:ext cx="548640" cy="548640"/>
          </a:xfrm>
          <a:prstGeom prst="ellipse">
            <a:avLst/>
          </a:prstGeom>
          <a:solidFill>
            <a:srgbClr val="2E86DE"/>
          </a:solidFill>
          <a:ln/>
        </p:spPr>
      </p:sp>
      <p:pic>
        <p:nvPicPr>
          <p:cNvPr id="27" name="Image 4" descr="/home/claude/sql_pptx/icons/calculator_white.png"/>
          <p:cNvPicPr>
            <a:picLocks noChangeAspect="1"/>
          </p:cNvPicPr>
          <p:nvPr/>
        </p:nvPicPr>
        <p:blipFill>
          <a:blip r:embed="rId7"/>
          <a:stretch>
            <a:fillRect/>
          </a:stretch>
        </p:blipFill>
        <p:spPr>
          <a:xfrm>
            <a:off x="6680606" y="1971446"/>
            <a:ext cx="263347" cy="263347"/>
          </a:xfrm>
          <a:prstGeom prst="rect">
            <a:avLst/>
          </a:prstGeom>
        </p:spPr>
      </p:pic>
      <p:sp>
        <p:nvSpPr>
          <p:cNvPr id="28" name="Text 21"/>
          <p:cNvSpPr/>
          <p:nvPr/>
        </p:nvSpPr>
        <p:spPr>
          <a:xfrm>
            <a:off x="7269480" y="1828800"/>
            <a:ext cx="4114800" cy="5486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Summarize values across rows</a:t>
            </a:r>
            <a:endParaRPr lang="en-US" sz="1200" dirty="0"/>
          </a:p>
        </p:txBody>
      </p:sp>
      <p:sp>
        <p:nvSpPr>
          <p:cNvPr id="29" name="Shape 22"/>
          <p:cNvSpPr/>
          <p:nvPr/>
        </p:nvSpPr>
        <p:spPr>
          <a:xfrm>
            <a:off x="6537960" y="2606040"/>
            <a:ext cx="1737360" cy="457200"/>
          </a:xfrm>
          <a:prstGeom prst="roundRect">
            <a:avLst>
              <a:gd name="adj" fmla="val 12000"/>
            </a:avLst>
          </a:prstGeom>
          <a:solidFill>
            <a:srgbClr val="123B6B"/>
          </a:solidFill>
          <a:ln/>
        </p:spPr>
      </p:sp>
      <p:sp>
        <p:nvSpPr>
          <p:cNvPr id="30" name="Text 23"/>
          <p:cNvSpPr/>
          <p:nvPr/>
        </p:nvSpPr>
        <p:spPr>
          <a:xfrm>
            <a:off x="6537960" y="2606040"/>
            <a:ext cx="1737360" cy="457200"/>
          </a:xfrm>
          <a:prstGeom prst="rect">
            <a:avLst/>
          </a:prstGeom>
          <a:noFill/>
          <a:ln/>
        </p:spPr>
        <p:txBody>
          <a:bodyPr wrap="square" lIns="0" tIns="0" rIns="0" bIns="0" rtlCol="0" anchor="ctr"/>
          <a:lstStyle/>
          <a:p>
            <a:pPr marL="0" indent="0" algn="ctr">
              <a:buNone/>
            </a:pPr>
            <a:r>
              <a:rPr lang="en-US" sz="1300" b="1" dirty="0">
                <a:solidFill>
                  <a:srgbClr val="6FCF97"/>
                </a:solidFill>
                <a:latin typeface="Consolas" pitchFamily="34" charset="0"/>
                <a:ea typeface="Consolas" pitchFamily="34" charset="-122"/>
                <a:cs typeface="Consolas" pitchFamily="34" charset="-120"/>
              </a:rPr>
              <a:t>COUNT()</a:t>
            </a:r>
            <a:endParaRPr lang="en-US" sz="1300" dirty="0"/>
          </a:p>
        </p:txBody>
      </p:sp>
      <p:sp>
        <p:nvSpPr>
          <p:cNvPr id="31" name="Text 24"/>
          <p:cNvSpPr/>
          <p:nvPr/>
        </p:nvSpPr>
        <p:spPr>
          <a:xfrm>
            <a:off x="8458200" y="2606040"/>
            <a:ext cx="2926080" cy="4572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Counts rows</a:t>
            </a:r>
            <a:endParaRPr lang="en-US" sz="1400" dirty="0"/>
          </a:p>
        </p:txBody>
      </p:sp>
      <p:sp>
        <p:nvSpPr>
          <p:cNvPr id="32" name="Shape 25"/>
          <p:cNvSpPr/>
          <p:nvPr/>
        </p:nvSpPr>
        <p:spPr>
          <a:xfrm>
            <a:off x="6537960" y="3172968"/>
            <a:ext cx="1737360" cy="457200"/>
          </a:xfrm>
          <a:prstGeom prst="roundRect">
            <a:avLst>
              <a:gd name="adj" fmla="val 12000"/>
            </a:avLst>
          </a:prstGeom>
          <a:solidFill>
            <a:srgbClr val="123B6B"/>
          </a:solidFill>
          <a:ln/>
        </p:spPr>
      </p:sp>
      <p:sp>
        <p:nvSpPr>
          <p:cNvPr id="33" name="Text 26"/>
          <p:cNvSpPr/>
          <p:nvPr/>
        </p:nvSpPr>
        <p:spPr>
          <a:xfrm>
            <a:off x="6537960" y="3172968"/>
            <a:ext cx="1737360" cy="457200"/>
          </a:xfrm>
          <a:prstGeom prst="rect">
            <a:avLst/>
          </a:prstGeom>
          <a:noFill/>
          <a:ln/>
        </p:spPr>
        <p:txBody>
          <a:bodyPr wrap="square" lIns="0" tIns="0" rIns="0" bIns="0" rtlCol="0" anchor="ctr"/>
          <a:lstStyle/>
          <a:p>
            <a:pPr marL="0" indent="0" algn="ctr">
              <a:buNone/>
            </a:pPr>
            <a:r>
              <a:rPr lang="en-US" sz="1300" b="1" dirty="0">
                <a:solidFill>
                  <a:srgbClr val="6FCF97"/>
                </a:solidFill>
                <a:latin typeface="Consolas" pitchFamily="34" charset="0"/>
                <a:ea typeface="Consolas" pitchFamily="34" charset="-122"/>
                <a:cs typeface="Consolas" pitchFamily="34" charset="-120"/>
              </a:rPr>
              <a:t>SUM()</a:t>
            </a:r>
            <a:endParaRPr lang="en-US" sz="1300" dirty="0"/>
          </a:p>
        </p:txBody>
      </p:sp>
      <p:sp>
        <p:nvSpPr>
          <p:cNvPr id="34" name="Text 27"/>
          <p:cNvSpPr/>
          <p:nvPr/>
        </p:nvSpPr>
        <p:spPr>
          <a:xfrm>
            <a:off x="8458200" y="3172968"/>
            <a:ext cx="2926080" cy="4572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Adds values</a:t>
            </a:r>
            <a:endParaRPr lang="en-US" sz="1400" dirty="0"/>
          </a:p>
        </p:txBody>
      </p:sp>
      <p:sp>
        <p:nvSpPr>
          <p:cNvPr id="35" name="Shape 28"/>
          <p:cNvSpPr/>
          <p:nvPr/>
        </p:nvSpPr>
        <p:spPr>
          <a:xfrm>
            <a:off x="6537960" y="3739896"/>
            <a:ext cx="1737360" cy="457200"/>
          </a:xfrm>
          <a:prstGeom prst="roundRect">
            <a:avLst>
              <a:gd name="adj" fmla="val 12000"/>
            </a:avLst>
          </a:prstGeom>
          <a:solidFill>
            <a:srgbClr val="123B6B"/>
          </a:solidFill>
          <a:ln/>
        </p:spPr>
      </p:sp>
      <p:sp>
        <p:nvSpPr>
          <p:cNvPr id="36" name="Text 29"/>
          <p:cNvSpPr/>
          <p:nvPr/>
        </p:nvSpPr>
        <p:spPr>
          <a:xfrm>
            <a:off x="6537960" y="3739896"/>
            <a:ext cx="1737360" cy="457200"/>
          </a:xfrm>
          <a:prstGeom prst="rect">
            <a:avLst/>
          </a:prstGeom>
          <a:noFill/>
          <a:ln/>
        </p:spPr>
        <p:txBody>
          <a:bodyPr wrap="square" lIns="0" tIns="0" rIns="0" bIns="0" rtlCol="0" anchor="ctr"/>
          <a:lstStyle/>
          <a:p>
            <a:pPr marL="0" indent="0" algn="ctr">
              <a:buNone/>
            </a:pPr>
            <a:r>
              <a:rPr lang="en-US" sz="1300" b="1" dirty="0">
                <a:solidFill>
                  <a:srgbClr val="6FCF97"/>
                </a:solidFill>
                <a:latin typeface="Consolas" pitchFamily="34" charset="0"/>
                <a:ea typeface="Consolas" pitchFamily="34" charset="-122"/>
                <a:cs typeface="Consolas" pitchFamily="34" charset="-120"/>
              </a:rPr>
              <a:t>AVG()</a:t>
            </a:r>
            <a:endParaRPr lang="en-US" sz="1300" dirty="0"/>
          </a:p>
        </p:txBody>
      </p:sp>
      <p:sp>
        <p:nvSpPr>
          <p:cNvPr id="37" name="Text 30"/>
          <p:cNvSpPr/>
          <p:nvPr/>
        </p:nvSpPr>
        <p:spPr>
          <a:xfrm>
            <a:off x="8458200" y="3739896"/>
            <a:ext cx="2926080" cy="4572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Averages values</a:t>
            </a:r>
            <a:endParaRPr lang="en-US" sz="1400" dirty="0"/>
          </a:p>
        </p:txBody>
      </p:sp>
      <p:sp>
        <p:nvSpPr>
          <p:cNvPr id="38" name="Shape 31"/>
          <p:cNvSpPr/>
          <p:nvPr/>
        </p:nvSpPr>
        <p:spPr>
          <a:xfrm>
            <a:off x="6537960" y="4306824"/>
            <a:ext cx="1737360" cy="457200"/>
          </a:xfrm>
          <a:prstGeom prst="roundRect">
            <a:avLst>
              <a:gd name="adj" fmla="val 12000"/>
            </a:avLst>
          </a:prstGeom>
          <a:solidFill>
            <a:srgbClr val="123B6B"/>
          </a:solidFill>
          <a:ln/>
        </p:spPr>
      </p:sp>
      <p:sp>
        <p:nvSpPr>
          <p:cNvPr id="39" name="Text 32"/>
          <p:cNvSpPr/>
          <p:nvPr/>
        </p:nvSpPr>
        <p:spPr>
          <a:xfrm>
            <a:off x="6537960" y="4306824"/>
            <a:ext cx="1737360" cy="457200"/>
          </a:xfrm>
          <a:prstGeom prst="rect">
            <a:avLst/>
          </a:prstGeom>
          <a:noFill/>
          <a:ln/>
        </p:spPr>
        <p:txBody>
          <a:bodyPr wrap="square" lIns="0" tIns="0" rIns="0" bIns="0" rtlCol="0" anchor="ctr"/>
          <a:lstStyle/>
          <a:p>
            <a:pPr marL="0" indent="0" algn="ctr">
              <a:buNone/>
            </a:pPr>
            <a:r>
              <a:rPr lang="en-US" sz="1300" b="1" dirty="0">
                <a:solidFill>
                  <a:srgbClr val="6FCF97"/>
                </a:solidFill>
                <a:latin typeface="Consolas" pitchFamily="34" charset="0"/>
                <a:ea typeface="Consolas" pitchFamily="34" charset="-122"/>
                <a:cs typeface="Consolas" pitchFamily="34" charset="-120"/>
              </a:rPr>
              <a:t>MAX()</a:t>
            </a:r>
            <a:endParaRPr lang="en-US" sz="1300" dirty="0"/>
          </a:p>
        </p:txBody>
      </p:sp>
      <p:sp>
        <p:nvSpPr>
          <p:cNvPr id="40" name="Text 33"/>
          <p:cNvSpPr/>
          <p:nvPr/>
        </p:nvSpPr>
        <p:spPr>
          <a:xfrm>
            <a:off x="8458200" y="4306824"/>
            <a:ext cx="2926080" cy="4572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Highest value</a:t>
            </a:r>
            <a:endParaRPr lang="en-US" sz="1400" dirty="0"/>
          </a:p>
        </p:txBody>
      </p:sp>
      <p:sp>
        <p:nvSpPr>
          <p:cNvPr id="41" name="Shape 34"/>
          <p:cNvSpPr/>
          <p:nvPr/>
        </p:nvSpPr>
        <p:spPr>
          <a:xfrm>
            <a:off x="6537960" y="4873752"/>
            <a:ext cx="1737360" cy="457200"/>
          </a:xfrm>
          <a:prstGeom prst="roundRect">
            <a:avLst>
              <a:gd name="adj" fmla="val 12000"/>
            </a:avLst>
          </a:prstGeom>
          <a:solidFill>
            <a:srgbClr val="123B6B"/>
          </a:solidFill>
          <a:ln/>
        </p:spPr>
      </p:sp>
      <p:sp>
        <p:nvSpPr>
          <p:cNvPr id="42" name="Text 35"/>
          <p:cNvSpPr/>
          <p:nvPr/>
        </p:nvSpPr>
        <p:spPr>
          <a:xfrm>
            <a:off x="6537960" y="4873752"/>
            <a:ext cx="1737360" cy="457200"/>
          </a:xfrm>
          <a:prstGeom prst="rect">
            <a:avLst/>
          </a:prstGeom>
          <a:noFill/>
          <a:ln/>
        </p:spPr>
        <p:txBody>
          <a:bodyPr wrap="square" lIns="0" tIns="0" rIns="0" bIns="0" rtlCol="0" anchor="ctr"/>
          <a:lstStyle/>
          <a:p>
            <a:pPr marL="0" indent="0" algn="ctr">
              <a:buNone/>
            </a:pPr>
            <a:r>
              <a:rPr lang="en-US" sz="1300" b="1" dirty="0">
                <a:solidFill>
                  <a:srgbClr val="6FCF97"/>
                </a:solidFill>
                <a:latin typeface="Consolas" pitchFamily="34" charset="0"/>
                <a:ea typeface="Consolas" pitchFamily="34" charset="-122"/>
                <a:cs typeface="Consolas" pitchFamily="34" charset="-120"/>
              </a:rPr>
              <a:t>MIN()</a:t>
            </a:r>
            <a:endParaRPr lang="en-US" sz="1300" dirty="0"/>
          </a:p>
        </p:txBody>
      </p:sp>
      <p:sp>
        <p:nvSpPr>
          <p:cNvPr id="43" name="Text 36"/>
          <p:cNvSpPr/>
          <p:nvPr/>
        </p:nvSpPr>
        <p:spPr>
          <a:xfrm>
            <a:off x="8458200" y="4873752"/>
            <a:ext cx="2926080" cy="4572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Lowest value</a:t>
            </a:r>
            <a:endParaRPr lang="en-US" sz="1400" dirty="0"/>
          </a:p>
        </p:txBody>
      </p:sp>
      <p:sp>
        <p:nvSpPr>
          <p:cNvPr id="44" name="Text 37"/>
          <p:cNvSpPr/>
          <p:nvPr/>
        </p:nvSpPr>
        <p:spPr>
          <a:xfrm>
            <a:off x="457200" y="6537960"/>
            <a:ext cx="5486400" cy="274320"/>
          </a:xfrm>
          <a:prstGeom prst="rect">
            <a:avLst/>
          </a:prstGeom>
          <a:noFill/>
          <a:ln/>
        </p:spPr>
        <p:txBody>
          <a:bodyPr wrap="square" lIns="0" tIns="0" rIns="0" bIns="0"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SQL — Structured Query Language</a:t>
            </a:r>
            <a:endParaRPr lang="en-US" sz="900" dirty="0"/>
          </a:p>
        </p:txBody>
      </p:sp>
      <p:sp>
        <p:nvSpPr>
          <p:cNvPr id="45" name="Text 38"/>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D"/>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marL="0" indent="0" algn="l">
              <a:buNone/>
            </a:pPr>
            <a:r>
              <a:rPr lang="en-US" sz="3200" b="1" dirty="0">
                <a:solidFill>
                  <a:srgbClr val="16324F"/>
                </a:solidFill>
                <a:latin typeface="Cambria" pitchFamily="34" charset="0"/>
                <a:ea typeface="Cambria" pitchFamily="34" charset="-122"/>
                <a:cs typeface="Cambria" pitchFamily="34" charset="-120"/>
              </a:rPr>
              <a:t>Applications of SQL</a:t>
            </a:r>
            <a:endParaRPr lang="en-US" sz="3200" dirty="0"/>
          </a:p>
        </p:txBody>
      </p:sp>
      <p:sp>
        <p:nvSpPr>
          <p:cNvPr id="3" name="Shape 1"/>
          <p:cNvSpPr/>
          <p:nvPr/>
        </p:nvSpPr>
        <p:spPr>
          <a:xfrm>
            <a:off x="548640" y="1417320"/>
            <a:ext cx="3535680" cy="1965960"/>
          </a:xfrm>
          <a:prstGeom prst="roundRect">
            <a:avLst>
              <a:gd name="adj" fmla="val 4651"/>
            </a:avLst>
          </a:prstGeom>
          <a:solidFill>
            <a:srgbClr val="FFFFFF"/>
          </a:solidFill>
          <a:ln/>
          <a:effectLst>
            <a:outerShdw blurRad="63500" dist="25400" dir="5400000" algn="bl" rotWithShape="0">
              <a:srgbClr val="1B2733">
                <a:alpha val="10000"/>
              </a:srgbClr>
            </a:outerShdw>
          </a:effectLst>
        </p:spPr>
      </p:sp>
      <p:sp>
        <p:nvSpPr>
          <p:cNvPr id="4" name="Shape 2"/>
          <p:cNvSpPr/>
          <p:nvPr/>
        </p:nvSpPr>
        <p:spPr>
          <a:xfrm>
            <a:off x="1950720" y="1673352"/>
            <a:ext cx="731520" cy="731520"/>
          </a:xfrm>
          <a:prstGeom prst="ellipse">
            <a:avLst/>
          </a:prstGeom>
          <a:solidFill>
            <a:srgbClr val="E8F1FB"/>
          </a:solidFill>
          <a:ln/>
        </p:spPr>
      </p:sp>
      <p:pic>
        <p:nvPicPr>
          <p:cNvPr id="5" name="Image 0" descr="/home/claude/sql_pptx/icons/university_blue.png"/>
          <p:cNvPicPr>
            <a:picLocks noChangeAspect="1"/>
          </p:cNvPicPr>
          <p:nvPr/>
        </p:nvPicPr>
        <p:blipFill>
          <a:blip r:embed="rId3"/>
          <a:stretch>
            <a:fillRect/>
          </a:stretch>
        </p:blipFill>
        <p:spPr>
          <a:xfrm>
            <a:off x="2140915" y="1863547"/>
            <a:ext cx="351130" cy="351130"/>
          </a:xfrm>
          <a:prstGeom prst="rect">
            <a:avLst/>
          </a:prstGeom>
        </p:spPr>
      </p:pic>
      <p:sp>
        <p:nvSpPr>
          <p:cNvPr id="6" name="Text 3"/>
          <p:cNvSpPr/>
          <p:nvPr/>
        </p:nvSpPr>
        <p:spPr>
          <a:xfrm>
            <a:off x="685800" y="2514600"/>
            <a:ext cx="3261360" cy="365760"/>
          </a:xfrm>
          <a:prstGeom prst="rect">
            <a:avLst/>
          </a:prstGeom>
          <a:noFill/>
          <a:ln/>
        </p:spPr>
        <p:txBody>
          <a:bodyPr wrap="square" lIns="0" tIns="0" rIns="0" bIns="0" rtlCol="0" anchor="ctr"/>
          <a:lstStyle/>
          <a:p>
            <a:pPr marL="0" indent="0" algn="ctr">
              <a:buNone/>
            </a:pPr>
            <a:r>
              <a:rPr lang="en-US" sz="1450" b="1" dirty="0">
                <a:solidFill>
                  <a:srgbClr val="16324F"/>
                </a:solidFill>
                <a:latin typeface="Calibri" pitchFamily="34" charset="0"/>
                <a:ea typeface="Calibri" pitchFamily="34" charset="-122"/>
                <a:cs typeface="Calibri" pitchFamily="34" charset="-120"/>
              </a:rPr>
              <a:t>Banking</a:t>
            </a:r>
            <a:endParaRPr lang="en-US" sz="1450" dirty="0"/>
          </a:p>
        </p:txBody>
      </p:sp>
      <p:sp>
        <p:nvSpPr>
          <p:cNvPr id="7" name="Text 4"/>
          <p:cNvSpPr/>
          <p:nvPr/>
        </p:nvSpPr>
        <p:spPr>
          <a:xfrm>
            <a:off x="685800" y="2862072"/>
            <a:ext cx="3261360" cy="457200"/>
          </a:xfrm>
          <a:prstGeom prst="rect">
            <a:avLst/>
          </a:prstGeom>
          <a:noFill/>
          <a:ln/>
        </p:spPr>
        <p:txBody>
          <a:bodyPr wrap="square" lIns="0" tIns="0" rIns="0" bIns="0" rtlCol="0" anchor="ctr"/>
          <a:lstStyle/>
          <a:p>
            <a:pPr marL="0" indent="0" algn="ctr">
              <a:buNone/>
            </a:pPr>
            <a:r>
              <a:rPr lang="en-US" sz="1400" dirty="0">
                <a:solidFill>
                  <a:srgbClr val="5C7A99"/>
                </a:solidFill>
                <a:latin typeface="Calibri" pitchFamily="34" charset="0"/>
                <a:ea typeface="Calibri" pitchFamily="34" charset="-122"/>
                <a:cs typeface="Calibri" pitchFamily="34" charset="-120"/>
              </a:rPr>
              <a:t>Secure transaction records</a:t>
            </a:r>
            <a:endParaRPr lang="en-US" sz="1400" dirty="0"/>
          </a:p>
        </p:txBody>
      </p:sp>
      <p:sp>
        <p:nvSpPr>
          <p:cNvPr id="8" name="Shape 5"/>
          <p:cNvSpPr/>
          <p:nvPr/>
        </p:nvSpPr>
        <p:spPr>
          <a:xfrm>
            <a:off x="4312920" y="1417320"/>
            <a:ext cx="3535680" cy="1965960"/>
          </a:xfrm>
          <a:prstGeom prst="roundRect">
            <a:avLst>
              <a:gd name="adj" fmla="val 4651"/>
            </a:avLst>
          </a:prstGeom>
          <a:solidFill>
            <a:srgbClr val="FFFFFF"/>
          </a:solidFill>
          <a:ln/>
          <a:effectLst>
            <a:outerShdw blurRad="63500" dist="25400" dir="5400000" algn="bl" rotWithShape="0">
              <a:srgbClr val="1B2733">
                <a:alpha val="10000"/>
              </a:srgbClr>
            </a:outerShdw>
          </a:effectLst>
        </p:spPr>
      </p:sp>
      <p:sp>
        <p:nvSpPr>
          <p:cNvPr id="9" name="Shape 6"/>
          <p:cNvSpPr/>
          <p:nvPr/>
        </p:nvSpPr>
        <p:spPr>
          <a:xfrm>
            <a:off x="5715000" y="1673352"/>
            <a:ext cx="731520" cy="731520"/>
          </a:xfrm>
          <a:prstGeom prst="ellipse">
            <a:avLst/>
          </a:prstGeom>
          <a:solidFill>
            <a:srgbClr val="E8F1FB"/>
          </a:solidFill>
          <a:ln/>
        </p:spPr>
      </p:sp>
      <p:pic>
        <p:nvPicPr>
          <p:cNvPr id="10" name="Image 1" descr="/home/claude/sql_pptx/icons/cart_blue.png"/>
          <p:cNvPicPr>
            <a:picLocks noChangeAspect="1"/>
          </p:cNvPicPr>
          <p:nvPr/>
        </p:nvPicPr>
        <p:blipFill>
          <a:blip r:embed="rId4"/>
          <a:stretch>
            <a:fillRect/>
          </a:stretch>
        </p:blipFill>
        <p:spPr>
          <a:xfrm>
            <a:off x="5905195" y="1863547"/>
            <a:ext cx="351130" cy="351130"/>
          </a:xfrm>
          <a:prstGeom prst="rect">
            <a:avLst/>
          </a:prstGeom>
        </p:spPr>
      </p:pic>
      <p:sp>
        <p:nvSpPr>
          <p:cNvPr id="11" name="Text 7"/>
          <p:cNvSpPr/>
          <p:nvPr/>
        </p:nvSpPr>
        <p:spPr>
          <a:xfrm>
            <a:off x="4450080" y="2514600"/>
            <a:ext cx="3261360" cy="365760"/>
          </a:xfrm>
          <a:prstGeom prst="rect">
            <a:avLst/>
          </a:prstGeom>
          <a:noFill/>
          <a:ln/>
        </p:spPr>
        <p:txBody>
          <a:bodyPr wrap="square" lIns="0" tIns="0" rIns="0" bIns="0" rtlCol="0" anchor="ctr"/>
          <a:lstStyle/>
          <a:p>
            <a:pPr marL="0" indent="0" algn="ctr">
              <a:buNone/>
            </a:pPr>
            <a:r>
              <a:rPr lang="en-US" sz="1450" b="1" dirty="0">
                <a:solidFill>
                  <a:srgbClr val="16324F"/>
                </a:solidFill>
                <a:latin typeface="Calibri" pitchFamily="34" charset="0"/>
                <a:ea typeface="Calibri" pitchFamily="34" charset="-122"/>
                <a:cs typeface="Calibri" pitchFamily="34" charset="-120"/>
              </a:rPr>
              <a:t>E-commerce</a:t>
            </a:r>
            <a:endParaRPr lang="en-US" sz="1450" dirty="0"/>
          </a:p>
        </p:txBody>
      </p:sp>
      <p:sp>
        <p:nvSpPr>
          <p:cNvPr id="12" name="Text 8"/>
          <p:cNvSpPr/>
          <p:nvPr/>
        </p:nvSpPr>
        <p:spPr>
          <a:xfrm>
            <a:off x="4450080" y="2862072"/>
            <a:ext cx="3261360" cy="457200"/>
          </a:xfrm>
          <a:prstGeom prst="rect">
            <a:avLst/>
          </a:prstGeom>
          <a:noFill/>
          <a:ln/>
        </p:spPr>
        <p:txBody>
          <a:bodyPr wrap="square" lIns="0" tIns="0" rIns="0" bIns="0" rtlCol="0" anchor="ctr"/>
          <a:lstStyle/>
          <a:p>
            <a:pPr marL="0" indent="0" algn="ctr">
              <a:buNone/>
            </a:pPr>
            <a:r>
              <a:rPr lang="en-US" sz="1400" dirty="0">
                <a:solidFill>
                  <a:srgbClr val="5C7A99"/>
                </a:solidFill>
                <a:latin typeface="Calibri" pitchFamily="34" charset="0"/>
                <a:ea typeface="Calibri" pitchFamily="34" charset="-122"/>
                <a:cs typeface="Calibri" pitchFamily="34" charset="-120"/>
              </a:rPr>
              <a:t>Orders, inventory, customers</a:t>
            </a:r>
            <a:endParaRPr lang="en-US" sz="1400" dirty="0"/>
          </a:p>
        </p:txBody>
      </p:sp>
      <p:sp>
        <p:nvSpPr>
          <p:cNvPr id="13" name="Shape 9"/>
          <p:cNvSpPr/>
          <p:nvPr/>
        </p:nvSpPr>
        <p:spPr>
          <a:xfrm>
            <a:off x="8077200" y="1417320"/>
            <a:ext cx="3535680" cy="1965960"/>
          </a:xfrm>
          <a:prstGeom prst="roundRect">
            <a:avLst>
              <a:gd name="adj" fmla="val 4651"/>
            </a:avLst>
          </a:prstGeom>
          <a:solidFill>
            <a:srgbClr val="FFFFFF"/>
          </a:solidFill>
          <a:ln/>
          <a:effectLst>
            <a:outerShdw blurRad="63500" dist="25400" dir="5400000" algn="bl" rotWithShape="0">
              <a:srgbClr val="1B2733">
                <a:alpha val="10000"/>
              </a:srgbClr>
            </a:outerShdw>
          </a:effectLst>
        </p:spPr>
      </p:sp>
      <p:sp>
        <p:nvSpPr>
          <p:cNvPr id="14" name="Shape 10"/>
          <p:cNvSpPr/>
          <p:nvPr/>
        </p:nvSpPr>
        <p:spPr>
          <a:xfrm>
            <a:off x="9479280" y="1673352"/>
            <a:ext cx="731520" cy="731520"/>
          </a:xfrm>
          <a:prstGeom prst="ellipse">
            <a:avLst/>
          </a:prstGeom>
          <a:solidFill>
            <a:srgbClr val="E8F1FB"/>
          </a:solidFill>
          <a:ln/>
        </p:spPr>
      </p:sp>
      <p:pic>
        <p:nvPicPr>
          <p:cNvPr id="15" name="Image 2" descr="/home/claude/sql_pptx/icons/heartbeat_blue.png"/>
          <p:cNvPicPr>
            <a:picLocks noChangeAspect="1"/>
          </p:cNvPicPr>
          <p:nvPr/>
        </p:nvPicPr>
        <p:blipFill>
          <a:blip r:embed="rId5"/>
          <a:stretch>
            <a:fillRect/>
          </a:stretch>
        </p:blipFill>
        <p:spPr>
          <a:xfrm>
            <a:off x="9669475" y="1863547"/>
            <a:ext cx="351130" cy="351130"/>
          </a:xfrm>
          <a:prstGeom prst="rect">
            <a:avLst/>
          </a:prstGeom>
        </p:spPr>
      </p:pic>
      <p:sp>
        <p:nvSpPr>
          <p:cNvPr id="16" name="Text 11"/>
          <p:cNvSpPr/>
          <p:nvPr/>
        </p:nvSpPr>
        <p:spPr>
          <a:xfrm>
            <a:off x="8214360" y="2514600"/>
            <a:ext cx="3261360" cy="365760"/>
          </a:xfrm>
          <a:prstGeom prst="rect">
            <a:avLst/>
          </a:prstGeom>
          <a:noFill/>
          <a:ln/>
        </p:spPr>
        <p:txBody>
          <a:bodyPr wrap="square" lIns="0" tIns="0" rIns="0" bIns="0" rtlCol="0" anchor="ctr"/>
          <a:lstStyle/>
          <a:p>
            <a:pPr marL="0" indent="0" algn="ctr">
              <a:buNone/>
            </a:pPr>
            <a:r>
              <a:rPr lang="en-US" sz="1450" b="1" dirty="0">
                <a:solidFill>
                  <a:srgbClr val="16324F"/>
                </a:solidFill>
                <a:latin typeface="Calibri" pitchFamily="34" charset="0"/>
                <a:ea typeface="Calibri" pitchFamily="34" charset="-122"/>
                <a:cs typeface="Calibri" pitchFamily="34" charset="-120"/>
              </a:rPr>
              <a:t>Healthcare</a:t>
            </a:r>
            <a:endParaRPr lang="en-US" sz="1450" dirty="0"/>
          </a:p>
        </p:txBody>
      </p:sp>
      <p:sp>
        <p:nvSpPr>
          <p:cNvPr id="17" name="Text 12"/>
          <p:cNvSpPr/>
          <p:nvPr/>
        </p:nvSpPr>
        <p:spPr>
          <a:xfrm>
            <a:off x="8214360" y="2862072"/>
            <a:ext cx="3261360" cy="457200"/>
          </a:xfrm>
          <a:prstGeom prst="rect">
            <a:avLst/>
          </a:prstGeom>
          <a:noFill/>
          <a:ln/>
        </p:spPr>
        <p:txBody>
          <a:bodyPr wrap="square" lIns="0" tIns="0" rIns="0" bIns="0" rtlCol="0" anchor="ctr"/>
          <a:lstStyle/>
          <a:p>
            <a:pPr marL="0" indent="0" algn="ctr">
              <a:buNone/>
            </a:pPr>
            <a:r>
              <a:rPr lang="en-US" sz="1400" dirty="0">
                <a:solidFill>
                  <a:srgbClr val="5C7A99"/>
                </a:solidFill>
                <a:latin typeface="Calibri" pitchFamily="34" charset="0"/>
                <a:ea typeface="Calibri" pitchFamily="34" charset="-122"/>
                <a:cs typeface="Calibri" pitchFamily="34" charset="-120"/>
              </a:rPr>
              <a:t>Patient &amp; records management</a:t>
            </a:r>
            <a:endParaRPr lang="en-US" sz="1400" dirty="0"/>
          </a:p>
        </p:txBody>
      </p:sp>
      <p:sp>
        <p:nvSpPr>
          <p:cNvPr id="18" name="Shape 13"/>
          <p:cNvSpPr/>
          <p:nvPr/>
        </p:nvSpPr>
        <p:spPr>
          <a:xfrm>
            <a:off x="548640" y="3611880"/>
            <a:ext cx="3535680" cy="1965960"/>
          </a:xfrm>
          <a:prstGeom prst="roundRect">
            <a:avLst>
              <a:gd name="adj" fmla="val 4651"/>
            </a:avLst>
          </a:prstGeom>
          <a:solidFill>
            <a:srgbClr val="FFFFFF"/>
          </a:solidFill>
          <a:ln/>
          <a:effectLst>
            <a:outerShdw blurRad="63500" dist="25400" dir="5400000" algn="bl" rotWithShape="0">
              <a:srgbClr val="1B2733">
                <a:alpha val="10000"/>
              </a:srgbClr>
            </a:outerShdw>
          </a:effectLst>
        </p:spPr>
      </p:sp>
      <p:sp>
        <p:nvSpPr>
          <p:cNvPr id="19" name="Shape 14"/>
          <p:cNvSpPr/>
          <p:nvPr/>
        </p:nvSpPr>
        <p:spPr>
          <a:xfrm>
            <a:off x="1950720" y="3867912"/>
            <a:ext cx="731520" cy="731520"/>
          </a:xfrm>
          <a:prstGeom prst="ellipse">
            <a:avLst/>
          </a:prstGeom>
          <a:solidFill>
            <a:srgbClr val="E8F1FB"/>
          </a:solidFill>
          <a:ln/>
        </p:spPr>
      </p:sp>
      <p:pic>
        <p:nvPicPr>
          <p:cNvPr id="20" name="Image 3" descr="/home/claude/sql_pptx/icons/gradcap_blue.png"/>
          <p:cNvPicPr>
            <a:picLocks noChangeAspect="1"/>
          </p:cNvPicPr>
          <p:nvPr/>
        </p:nvPicPr>
        <p:blipFill>
          <a:blip r:embed="rId6"/>
          <a:stretch>
            <a:fillRect/>
          </a:stretch>
        </p:blipFill>
        <p:spPr>
          <a:xfrm>
            <a:off x="2140915" y="4058107"/>
            <a:ext cx="351130" cy="351130"/>
          </a:xfrm>
          <a:prstGeom prst="rect">
            <a:avLst/>
          </a:prstGeom>
        </p:spPr>
      </p:pic>
      <p:sp>
        <p:nvSpPr>
          <p:cNvPr id="21" name="Text 15"/>
          <p:cNvSpPr/>
          <p:nvPr/>
        </p:nvSpPr>
        <p:spPr>
          <a:xfrm>
            <a:off x="685800" y="4709160"/>
            <a:ext cx="3261360" cy="365760"/>
          </a:xfrm>
          <a:prstGeom prst="rect">
            <a:avLst/>
          </a:prstGeom>
          <a:noFill/>
          <a:ln/>
        </p:spPr>
        <p:txBody>
          <a:bodyPr wrap="square" lIns="0" tIns="0" rIns="0" bIns="0" rtlCol="0" anchor="ctr"/>
          <a:lstStyle/>
          <a:p>
            <a:pPr marL="0" indent="0" algn="ctr">
              <a:buNone/>
            </a:pPr>
            <a:r>
              <a:rPr lang="en-US" sz="1450" b="1" dirty="0">
                <a:solidFill>
                  <a:srgbClr val="16324F"/>
                </a:solidFill>
                <a:latin typeface="Calibri" pitchFamily="34" charset="0"/>
                <a:ea typeface="Calibri" pitchFamily="34" charset="-122"/>
                <a:cs typeface="Calibri" pitchFamily="34" charset="-120"/>
              </a:rPr>
              <a:t>Education</a:t>
            </a:r>
            <a:endParaRPr lang="en-US" sz="1450" dirty="0"/>
          </a:p>
        </p:txBody>
      </p:sp>
      <p:sp>
        <p:nvSpPr>
          <p:cNvPr id="22" name="Text 16"/>
          <p:cNvSpPr/>
          <p:nvPr/>
        </p:nvSpPr>
        <p:spPr>
          <a:xfrm>
            <a:off x="685800" y="5056632"/>
            <a:ext cx="3261360" cy="457200"/>
          </a:xfrm>
          <a:prstGeom prst="rect">
            <a:avLst/>
          </a:prstGeom>
          <a:noFill/>
          <a:ln/>
        </p:spPr>
        <p:txBody>
          <a:bodyPr wrap="square" lIns="0" tIns="0" rIns="0" bIns="0" rtlCol="0" anchor="ctr"/>
          <a:lstStyle/>
          <a:p>
            <a:pPr marL="0" indent="0" algn="ctr">
              <a:buNone/>
            </a:pPr>
            <a:r>
              <a:rPr lang="en-US" sz="1400" dirty="0">
                <a:solidFill>
                  <a:srgbClr val="5C7A99"/>
                </a:solidFill>
                <a:latin typeface="Calibri" pitchFamily="34" charset="0"/>
                <a:ea typeface="Calibri" pitchFamily="34" charset="-122"/>
                <a:cs typeface="Calibri" pitchFamily="34" charset="-120"/>
              </a:rPr>
              <a:t>Student &amp; course data</a:t>
            </a:r>
            <a:endParaRPr lang="en-US" sz="1400" dirty="0"/>
          </a:p>
        </p:txBody>
      </p:sp>
      <p:sp>
        <p:nvSpPr>
          <p:cNvPr id="23" name="Shape 17"/>
          <p:cNvSpPr/>
          <p:nvPr/>
        </p:nvSpPr>
        <p:spPr>
          <a:xfrm>
            <a:off x="4312920" y="3611880"/>
            <a:ext cx="3535680" cy="1965960"/>
          </a:xfrm>
          <a:prstGeom prst="roundRect">
            <a:avLst>
              <a:gd name="adj" fmla="val 4651"/>
            </a:avLst>
          </a:prstGeom>
          <a:solidFill>
            <a:srgbClr val="FFFFFF"/>
          </a:solidFill>
          <a:ln/>
          <a:effectLst>
            <a:outerShdw blurRad="63500" dist="25400" dir="5400000" algn="bl" rotWithShape="0">
              <a:srgbClr val="1B2733">
                <a:alpha val="10000"/>
              </a:srgbClr>
            </a:outerShdw>
          </a:effectLst>
        </p:spPr>
      </p:sp>
      <p:sp>
        <p:nvSpPr>
          <p:cNvPr id="24" name="Shape 18"/>
          <p:cNvSpPr/>
          <p:nvPr/>
        </p:nvSpPr>
        <p:spPr>
          <a:xfrm>
            <a:off x="5715000" y="3867912"/>
            <a:ext cx="731520" cy="731520"/>
          </a:xfrm>
          <a:prstGeom prst="ellipse">
            <a:avLst/>
          </a:prstGeom>
          <a:solidFill>
            <a:srgbClr val="E8F1FB"/>
          </a:solidFill>
          <a:ln/>
        </p:spPr>
      </p:sp>
      <p:pic>
        <p:nvPicPr>
          <p:cNvPr id="25" name="Image 4" descr="/home/claude/sql_pptx/icons/share_blue.png"/>
          <p:cNvPicPr>
            <a:picLocks noChangeAspect="1"/>
          </p:cNvPicPr>
          <p:nvPr/>
        </p:nvPicPr>
        <p:blipFill>
          <a:blip r:embed="rId7"/>
          <a:stretch>
            <a:fillRect/>
          </a:stretch>
        </p:blipFill>
        <p:spPr>
          <a:xfrm>
            <a:off x="5905195" y="4058107"/>
            <a:ext cx="351130" cy="351130"/>
          </a:xfrm>
          <a:prstGeom prst="rect">
            <a:avLst/>
          </a:prstGeom>
        </p:spPr>
      </p:pic>
      <p:sp>
        <p:nvSpPr>
          <p:cNvPr id="26" name="Text 19"/>
          <p:cNvSpPr/>
          <p:nvPr/>
        </p:nvSpPr>
        <p:spPr>
          <a:xfrm>
            <a:off x="4450080" y="4709160"/>
            <a:ext cx="3261360" cy="365760"/>
          </a:xfrm>
          <a:prstGeom prst="rect">
            <a:avLst/>
          </a:prstGeom>
          <a:noFill/>
          <a:ln/>
        </p:spPr>
        <p:txBody>
          <a:bodyPr wrap="square" lIns="0" tIns="0" rIns="0" bIns="0" rtlCol="0" anchor="ctr"/>
          <a:lstStyle/>
          <a:p>
            <a:pPr marL="0" indent="0" algn="ctr">
              <a:buNone/>
            </a:pPr>
            <a:r>
              <a:rPr lang="en-US" sz="1450" b="1" dirty="0">
                <a:solidFill>
                  <a:srgbClr val="16324F"/>
                </a:solidFill>
                <a:latin typeface="Calibri" pitchFamily="34" charset="0"/>
                <a:ea typeface="Calibri" pitchFamily="34" charset="-122"/>
                <a:cs typeface="Calibri" pitchFamily="34" charset="-120"/>
              </a:rPr>
              <a:t>Social Media</a:t>
            </a:r>
            <a:endParaRPr lang="en-US" sz="1450" dirty="0"/>
          </a:p>
        </p:txBody>
      </p:sp>
      <p:sp>
        <p:nvSpPr>
          <p:cNvPr id="27" name="Text 20"/>
          <p:cNvSpPr/>
          <p:nvPr/>
        </p:nvSpPr>
        <p:spPr>
          <a:xfrm>
            <a:off x="4450080" y="5056632"/>
            <a:ext cx="3261360" cy="457200"/>
          </a:xfrm>
          <a:prstGeom prst="rect">
            <a:avLst/>
          </a:prstGeom>
          <a:noFill/>
          <a:ln/>
        </p:spPr>
        <p:txBody>
          <a:bodyPr wrap="square" lIns="0" tIns="0" rIns="0" bIns="0" rtlCol="0" anchor="ctr"/>
          <a:lstStyle/>
          <a:p>
            <a:pPr marL="0" indent="0" algn="ctr">
              <a:buNone/>
            </a:pPr>
            <a:r>
              <a:rPr lang="en-US" sz="1400" dirty="0">
                <a:solidFill>
                  <a:srgbClr val="5C7A99"/>
                </a:solidFill>
                <a:latin typeface="Calibri" pitchFamily="34" charset="0"/>
                <a:ea typeface="Calibri" pitchFamily="34" charset="-122"/>
                <a:cs typeface="Calibri" pitchFamily="34" charset="-120"/>
              </a:rPr>
              <a:t>User profiles &amp; activity</a:t>
            </a:r>
            <a:endParaRPr lang="en-US" sz="1400" dirty="0"/>
          </a:p>
        </p:txBody>
      </p:sp>
      <p:sp>
        <p:nvSpPr>
          <p:cNvPr id="28" name="Shape 21"/>
          <p:cNvSpPr/>
          <p:nvPr/>
        </p:nvSpPr>
        <p:spPr>
          <a:xfrm>
            <a:off x="8077200" y="3611880"/>
            <a:ext cx="3535680" cy="1965960"/>
          </a:xfrm>
          <a:prstGeom prst="roundRect">
            <a:avLst>
              <a:gd name="adj" fmla="val 4651"/>
            </a:avLst>
          </a:prstGeom>
          <a:solidFill>
            <a:srgbClr val="FFFFFF"/>
          </a:solidFill>
          <a:ln/>
          <a:effectLst>
            <a:outerShdw blurRad="63500" dist="25400" dir="5400000" algn="bl" rotWithShape="0">
              <a:srgbClr val="1B2733">
                <a:alpha val="10000"/>
              </a:srgbClr>
            </a:outerShdw>
          </a:effectLst>
        </p:spPr>
      </p:sp>
      <p:sp>
        <p:nvSpPr>
          <p:cNvPr id="29" name="Shape 22"/>
          <p:cNvSpPr/>
          <p:nvPr/>
        </p:nvSpPr>
        <p:spPr>
          <a:xfrm>
            <a:off x="9479280" y="3867912"/>
            <a:ext cx="731520" cy="731520"/>
          </a:xfrm>
          <a:prstGeom prst="ellipse">
            <a:avLst/>
          </a:prstGeom>
          <a:solidFill>
            <a:srgbClr val="E8F1FB"/>
          </a:solidFill>
          <a:ln/>
        </p:spPr>
      </p:sp>
      <p:pic>
        <p:nvPicPr>
          <p:cNvPr id="30" name="Image 5" descr="/home/claude/sql_pptx/icons/chartline_blue.png"/>
          <p:cNvPicPr>
            <a:picLocks noChangeAspect="1"/>
          </p:cNvPicPr>
          <p:nvPr/>
        </p:nvPicPr>
        <p:blipFill>
          <a:blip r:embed="rId8"/>
          <a:stretch>
            <a:fillRect/>
          </a:stretch>
        </p:blipFill>
        <p:spPr>
          <a:xfrm>
            <a:off x="9669475" y="4058107"/>
            <a:ext cx="351130" cy="351130"/>
          </a:xfrm>
          <a:prstGeom prst="rect">
            <a:avLst/>
          </a:prstGeom>
        </p:spPr>
      </p:pic>
      <p:sp>
        <p:nvSpPr>
          <p:cNvPr id="31" name="Text 23"/>
          <p:cNvSpPr/>
          <p:nvPr/>
        </p:nvSpPr>
        <p:spPr>
          <a:xfrm>
            <a:off x="8214360" y="4709160"/>
            <a:ext cx="3261360" cy="365760"/>
          </a:xfrm>
          <a:prstGeom prst="rect">
            <a:avLst/>
          </a:prstGeom>
          <a:noFill/>
          <a:ln/>
        </p:spPr>
        <p:txBody>
          <a:bodyPr wrap="square" lIns="0" tIns="0" rIns="0" bIns="0" rtlCol="0" anchor="ctr"/>
          <a:lstStyle/>
          <a:p>
            <a:pPr marL="0" indent="0" algn="ctr">
              <a:buNone/>
            </a:pPr>
            <a:r>
              <a:rPr lang="en-US" sz="1450" b="1" dirty="0">
                <a:solidFill>
                  <a:srgbClr val="16324F"/>
                </a:solidFill>
                <a:latin typeface="Calibri" pitchFamily="34" charset="0"/>
                <a:ea typeface="Calibri" pitchFamily="34" charset="-122"/>
                <a:cs typeface="Calibri" pitchFamily="34" charset="-120"/>
              </a:rPr>
              <a:t>Analytics &amp; BI</a:t>
            </a:r>
            <a:endParaRPr lang="en-US" sz="1450" dirty="0"/>
          </a:p>
        </p:txBody>
      </p:sp>
      <p:sp>
        <p:nvSpPr>
          <p:cNvPr id="32" name="Text 24"/>
          <p:cNvSpPr/>
          <p:nvPr/>
        </p:nvSpPr>
        <p:spPr>
          <a:xfrm>
            <a:off x="8214360" y="5056632"/>
            <a:ext cx="3261360" cy="457200"/>
          </a:xfrm>
          <a:prstGeom prst="rect">
            <a:avLst/>
          </a:prstGeom>
          <a:noFill/>
          <a:ln/>
        </p:spPr>
        <p:txBody>
          <a:bodyPr wrap="square" lIns="0" tIns="0" rIns="0" bIns="0" rtlCol="0" anchor="ctr"/>
          <a:lstStyle/>
          <a:p>
            <a:pPr marL="0" indent="0" algn="ctr">
              <a:buNone/>
            </a:pPr>
            <a:r>
              <a:rPr lang="en-US" sz="1400" dirty="0">
                <a:solidFill>
                  <a:srgbClr val="5C7A99"/>
                </a:solidFill>
                <a:latin typeface="Calibri" pitchFamily="34" charset="0"/>
                <a:ea typeface="Calibri" pitchFamily="34" charset="-122"/>
                <a:cs typeface="Calibri" pitchFamily="34" charset="-120"/>
              </a:rPr>
              <a:t>Business intelligence reporting</a:t>
            </a:r>
            <a:endParaRPr lang="en-US" sz="1400" dirty="0"/>
          </a:p>
        </p:txBody>
      </p:sp>
      <p:sp>
        <p:nvSpPr>
          <p:cNvPr id="33" name="Text 25"/>
          <p:cNvSpPr/>
          <p:nvPr/>
        </p:nvSpPr>
        <p:spPr>
          <a:xfrm>
            <a:off x="457200" y="6537960"/>
            <a:ext cx="5486400" cy="274320"/>
          </a:xfrm>
          <a:prstGeom prst="rect">
            <a:avLst/>
          </a:prstGeom>
          <a:noFill/>
          <a:ln/>
        </p:spPr>
        <p:txBody>
          <a:bodyPr wrap="square" lIns="0" tIns="0" rIns="0" bIns="0" rtlCol="0" anchor="ctr"/>
          <a:lstStyle/>
          <a:p>
            <a:pPr marL="0" indent="0" algn="l">
              <a:buNone/>
            </a:pPr>
            <a:r>
              <a:rPr lang="en-US" sz="900" dirty="0">
                <a:solidFill>
                  <a:srgbClr val="5C7A99"/>
                </a:solidFill>
                <a:latin typeface="Calibri" pitchFamily="34" charset="0"/>
                <a:ea typeface="Calibri" pitchFamily="34" charset="-122"/>
                <a:cs typeface="Calibri" pitchFamily="34" charset="-120"/>
              </a:rPr>
              <a:t>SQL — Structured Query Language</a:t>
            </a:r>
            <a:endParaRPr lang="en-US" sz="900" dirty="0"/>
          </a:p>
        </p:txBody>
      </p:sp>
      <p:sp>
        <p:nvSpPr>
          <p:cNvPr id="34" name="Text 26"/>
          <p:cNvSpPr/>
          <p:nvPr/>
        </p:nvSpPr>
        <p:spPr>
          <a:xfrm>
            <a:off x="11430000" y="6537960"/>
            <a:ext cx="365760" cy="274320"/>
          </a:xfrm>
          <a:prstGeom prst="rect">
            <a:avLst/>
          </a:prstGeom>
          <a:noFill/>
          <a:ln/>
        </p:spPr>
        <p:txBody>
          <a:bodyPr wrap="square" lIns="0" tIns="0" rIns="0" bIns="0" rtlCol="0" anchor="ctr"/>
          <a:lstStyle/>
          <a:p>
            <a:pPr marL="0" indent="0" algn="r">
              <a:buNone/>
            </a:pPr>
            <a:r>
              <a:rPr lang="en-US" sz="900" dirty="0">
                <a:solidFill>
                  <a:srgbClr val="5C7A9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E59"/>
        </a:solidFill>
        <a:effectLst/>
      </p:bgPr>
    </p:bg>
    <p:spTree>
      <p:nvGrpSpPr>
        <p:cNvPr id="1" name=""/>
        <p:cNvGrpSpPr/>
        <p:nvPr/>
      </p:nvGrpSpPr>
      <p:grpSpPr>
        <a:xfrm>
          <a:off x="0" y="0"/>
          <a:ext cx="0" cy="0"/>
          <a:chOff x="0" y="0"/>
          <a:chExt cx="0" cy="0"/>
        </a:xfrm>
      </p:grpSpPr>
      <p:sp>
        <p:nvSpPr>
          <p:cNvPr id="2" name="Shape 0"/>
          <p:cNvSpPr/>
          <p:nvPr/>
        </p:nvSpPr>
        <p:spPr>
          <a:xfrm>
            <a:off x="9875520" y="-1645920"/>
            <a:ext cx="4754880" cy="4754880"/>
          </a:xfrm>
          <a:prstGeom prst="ellipse">
            <a:avLst/>
          </a:prstGeom>
          <a:solidFill>
            <a:srgbClr val="123B6B"/>
          </a:solidFill>
          <a:ln/>
        </p:spPr>
      </p:sp>
      <p:sp>
        <p:nvSpPr>
          <p:cNvPr id="3" name="Shape 1"/>
          <p:cNvSpPr/>
          <p:nvPr/>
        </p:nvSpPr>
        <p:spPr>
          <a:xfrm>
            <a:off x="-1280160" y="4572000"/>
            <a:ext cx="3291840" cy="3291840"/>
          </a:xfrm>
          <a:prstGeom prst="ellipse">
            <a:avLst/>
          </a:prstGeom>
          <a:solidFill>
            <a:srgbClr val="123B6B"/>
          </a:solidFill>
          <a:ln/>
        </p:spPr>
      </p:sp>
      <p:sp>
        <p:nvSpPr>
          <p:cNvPr id="4" name="Text 2"/>
          <p:cNvSpPr/>
          <p:nvPr/>
        </p:nvSpPr>
        <p:spPr>
          <a:xfrm>
            <a:off x="548640" y="50292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Shape 3"/>
          <p:cNvSpPr/>
          <p:nvPr/>
        </p:nvSpPr>
        <p:spPr>
          <a:xfrm>
            <a:off x="548640" y="1417320"/>
            <a:ext cx="594360" cy="594360"/>
          </a:xfrm>
          <a:prstGeom prst="ellipse">
            <a:avLst/>
          </a:prstGeom>
          <a:solidFill>
            <a:srgbClr val="2E86DE"/>
          </a:solidFill>
          <a:ln/>
        </p:spPr>
      </p:sp>
      <p:pic>
        <p:nvPicPr>
          <p:cNvPr id="6" name="Image 0" descr="/home/claude/sql_pptx/icons/checkcircle_white.png"/>
          <p:cNvPicPr>
            <a:picLocks noChangeAspect="1"/>
          </p:cNvPicPr>
          <p:nvPr/>
        </p:nvPicPr>
        <p:blipFill>
          <a:blip r:embed="rId3"/>
          <a:stretch>
            <a:fillRect/>
          </a:stretch>
        </p:blipFill>
        <p:spPr>
          <a:xfrm>
            <a:off x="703174" y="1571854"/>
            <a:ext cx="285293" cy="285293"/>
          </a:xfrm>
          <a:prstGeom prst="rect">
            <a:avLst/>
          </a:prstGeom>
        </p:spPr>
      </p:pic>
      <p:sp>
        <p:nvSpPr>
          <p:cNvPr id="7" name="Text 4"/>
          <p:cNvSpPr/>
          <p:nvPr/>
        </p:nvSpPr>
        <p:spPr>
          <a:xfrm>
            <a:off x="1371600" y="1389888"/>
            <a:ext cx="96012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Summary</a:t>
            </a:r>
            <a:endParaRPr lang="en-US" dirty="0"/>
          </a:p>
        </p:txBody>
      </p:sp>
      <p:sp>
        <p:nvSpPr>
          <p:cNvPr id="8" name="Text 5"/>
          <p:cNvSpPr/>
          <p:nvPr/>
        </p:nvSpPr>
        <p:spPr>
          <a:xfrm>
            <a:off x="1371600" y="1719072"/>
            <a:ext cx="987552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SQL is the standard language for managing and querying relational data.</a:t>
            </a:r>
            <a:endParaRPr lang="en-US" sz="1400" dirty="0"/>
          </a:p>
        </p:txBody>
      </p:sp>
      <p:sp>
        <p:nvSpPr>
          <p:cNvPr id="9" name="Shape 6"/>
          <p:cNvSpPr/>
          <p:nvPr/>
        </p:nvSpPr>
        <p:spPr>
          <a:xfrm>
            <a:off x="548640" y="2331720"/>
            <a:ext cx="594360" cy="594360"/>
          </a:xfrm>
          <a:prstGeom prst="ellipse">
            <a:avLst/>
          </a:prstGeom>
          <a:solidFill>
            <a:srgbClr val="2E86DE"/>
          </a:solidFill>
          <a:ln/>
        </p:spPr>
      </p:sp>
      <p:pic>
        <p:nvPicPr>
          <p:cNvPr id="10" name="Image 1" descr="/home/claude/sql_pptx/icons/bullseye_white.png"/>
          <p:cNvPicPr>
            <a:picLocks noChangeAspect="1"/>
          </p:cNvPicPr>
          <p:nvPr/>
        </p:nvPicPr>
        <p:blipFill>
          <a:blip r:embed="rId4"/>
          <a:stretch>
            <a:fillRect/>
          </a:stretch>
        </p:blipFill>
        <p:spPr>
          <a:xfrm>
            <a:off x="703174" y="2486254"/>
            <a:ext cx="285293" cy="285293"/>
          </a:xfrm>
          <a:prstGeom prst="rect">
            <a:avLst/>
          </a:prstGeom>
        </p:spPr>
      </p:pic>
      <p:sp>
        <p:nvSpPr>
          <p:cNvPr id="11" name="Text 7"/>
          <p:cNvSpPr/>
          <p:nvPr/>
        </p:nvSpPr>
        <p:spPr>
          <a:xfrm>
            <a:off x="1371600" y="2304288"/>
            <a:ext cx="96012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Key Takeaways</a:t>
            </a:r>
            <a:endParaRPr lang="en-US" dirty="0"/>
          </a:p>
        </p:txBody>
      </p:sp>
      <p:sp>
        <p:nvSpPr>
          <p:cNvPr id="12" name="Text 8"/>
          <p:cNvSpPr/>
          <p:nvPr/>
        </p:nvSpPr>
        <p:spPr>
          <a:xfrm>
            <a:off x="1371600" y="2633472"/>
            <a:ext cx="987552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Core commands, clauses, and functions enable full control over data.</a:t>
            </a:r>
            <a:endParaRPr lang="en-US" sz="1400" dirty="0"/>
          </a:p>
        </p:txBody>
      </p:sp>
      <p:sp>
        <p:nvSpPr>
          <p:cNvPr id="13" name="Shape 9"/>
          <p:cNvSpPr/>
          <p:nvPr/>
        </p:nvSpPr>
        <p:spPr>
          <a:xfrm>
            <a:off x="548640" y="3246120"/>
            <a:ext cx="594360" cy="594360"/>
          </a:xfrm>
          <a:prstGeom prst="ellipse">
            <a:avLst/>
          </a:prstGeom>
          <a:solidFill>
            <a:srgbClr val="2E86DE"/>
          </a:solidFill>
          <a:ln/>
        </p:spPr>
      </p:sp>
      <p:pic>
        <p:nvPicPr>
          <p:cNvPr id="14" name="Image 2" descr="/home/claude/sql_pptx/icons/rocket_white.png"/>
          <p:cNvPicPr>
            <a:picLocks noChangeAspect="1"/>
          </p:cNvPicPr>
          <p:nvPr/>
        </p:nvPicPr>
        <p:blipFill>
          <a:blip r:embed="rId5"/>
          <a:stretch>
            <a:fillRect/>
          </a:stretch>
        </p:blipFill>
        <p:spPr>
          <a:xfrm>
            <a:off x="703174" y="3400654"/>
            <a:ext cx="285293" cy="285293"/>
          </a:xfrm>
          <a:prstGeom prst="rect">
            <a:avLst/>
          </a:prstGeom>
        </p:spPr>
      </p:pic>
      <p:sp>
        <p:nvSpPr>
          <p:cNvPr id="15" name="Text 10"/>
          <p:cNvSpPr/>
          <p:nvPr/>
        </p:nvSpPr>
        <p:spPr>
          <a:xfrm>
            <a:off x="1371600" y="3218688"/>
            <a:ext cx="96012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Future Scope</a:t>
            </a:r>
            <a:endParaRPr lang="en-US" dirty="0"/>
          </a:p>
        </p:txBody>
      </p:sp>
      <p:sp>
        <p:nvSpPr>
          <p:cNvPr id="16" name="Text 11"/>
          <p:cNvSpPr/>
          <p:nvPr/>
        </p:nvSpPr>
        <p:spPr>
          <a:xfrm>
            <a:off x="1371600" y="3547872"/>
            <a:ext cx="987552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Continues to grow with cloud databases, big data, and AI-driven analytics.</a:t>
            </a:r>
            <a:endParaRPr lang="en-US" sz="1400" dirty="0"/>
          </a:p>
        </p:txBody>
      </p:sp>
      <p:sp>
        <p:nvSpPr>
          <p:cNvPr id="17" name="Shape 12"/>
          <p:cNvSpPr/>
          <p:nvPr/>
        </p:nvSpPr>
        <p:spPr>
          <a:xfrm>
            <a:off x="566928" y="4206240"/>
            <a:ext cx="10881360" cy="0"/>
          </a:xfrm>
          <a:prstGeom prst="line">
            <a:avLst/>
          </a:prstGeom>
          <a:noFill/>
          <a:ln w="19050">
            <a:solidFill>
              <a:srgbClr val="123B6B"/>
            </a:solidFill>
            <a:prstDash val="solid"/>
          </a:ln>
        </p:spPr>
      </p:sp>
      <p:sp>
        <p:nvSpPr>
          <p:cNvPr id="18" name="Shape 13"/>
          <p:cNvSpPr/>
          <p:nvPr/>
        </p:nvSpPr>
        <p:spPr>
          <a:xfrm>
            <a:off x="5349240" y="4480560"/>
            <a:ext cx="822960" cy="822960"/>
          </a:xfrm>
          <a:prstGeom prst="ellipse">
            <a:avLst/>
          </a:prstGeom>
          <a:solidFill>
            <a:srgbClr val="2E86DE"/>
          </a:solidFill>
          <a:ln/>
        </p:spPr>
      </p:sp>
      <p:pic>
        <p:nvPicPr>
          <p:cNvPr id="19" name="Image 3" descr="/home/claude/sql_pptx/icons/question_white.png"/>
          <p:cNvPicPr>
            <a:picLocks noChangeAspect="1"/>
          </p:cNvPicPr>
          <p:nvPr/>
        </p:nvPicPr>
        <p:blipFill>
          <a:blip r:embed="rId6"/>
          <a:stretch>
            <a:fillRect/>
          </a:stretch>
        </p:blipFill>
        <p:spPr>
          <a:xfrm>
            <a:off x="5563209" y="4679899"/>
            <a:ext cx="395021" cy="395021"/>
          </a:xfrm>
          <a:prstGeom prst="rect">
            <a:avLst/>
          </a:prstGeom>
        </p:spPr>
      </p:pic>
      <p:sp>
        <p:nvSpPr>
          <p:cNvPr id="20" name="Text 14"/>
          <p:cNvSpPr/>
          <p:nvPr/>
        </p:nvSpPr>
        <p:spPr>
          <a:xfrm>
            <a:off x="558688" y="5440680"/>
            <a:ext cx="109728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Thank You 	 </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933</Words>
  <Application>Microsoft Office PowerPoint</Application>
  <PresentationFormat>Widescreen</PresentationFormat>
  <Paragraphs>145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Virrajsinh Mahida</cp:lastModifiedBy>
  <cp:revision>4</cp:revision>
  <dcterms:created xsi:type="dcterms:W3CDTF">2026-08-12T09:27:31Z</dcterms:created>
  <dcterms:modified xsi:type="dcterms:W3CDTF">2026-08-14T11:23:57Z</dcterms:modified>
</cp:coreProperties>
</file>