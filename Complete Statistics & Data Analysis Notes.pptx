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17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17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50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23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Relationship Id="rId19" Type="http://schemas.openxmlformats.org/officeDocument/2006/relationships/image" Target="../media/image76.png"/><Relationship Id="rId20" Type="http://schemas.openxmlformats.org/officeDocument/2006/relationships/image" Target="../media/image77.png"/><Relationship Id="rId21" Type="http://schemas.openxmlformats.org/officeDocument/2006/relationships/image" Target="../media/image7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png"/><Relationship Id="rId15" Type="http://schemas.openxmlformats.org/officeDocument/2006/relationships/image" Target="../media/image102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6.png"/><Relationship Id="rId20" Type="http://schemas.openxmlformats.org/officeDocument/2006/relationships/image" Target="../media/image107.png"/><Relationship Id="rId21" Type="http://schemas.openxmlformats.org/officeDocument/2006/relationships/image" Target="../media/image108.png"/><Relationship Id="rId22" Type="http://schemas.openxmlformats.org/officeDocument/2006/relationships/image" Target="../media/image109.png"/><Relationship Id="rId23" Type="http://schemas.openxmlformats.org/officeDocument/2006/relationships/image" Target="../media/image110.png"/><Relationship Id="rId24" Type="http://schemas.openxmlformats.org/officeDocument/2006/relationships/image" Target="../media/image1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png"/><Relationship Id="rId13" Type="http://schemas.openxmlformats.org/officeDocument/2006/relationships/image" Target="../media/image122.png"/><Relationship Id="rId14" Type="http://schemas.openxmlformats.org/officeDocument/2006/relationships/image" Target="../media/image123.png"/><Relationship Id="rId15" Type="http://schemas.openxmlformats.org/officeDocument/2006/relationships/image" Target="../media/image124.png"/><Relationship Id="rId16" Type="http://schemas.openxmlformats.org/officeDocument/2006/relationships/image" Target="../media/image125.png"/><Relationship Id="rId17" Type="http://schemas.openxmlformats.org/officeDocument/2006/relationships/image" Target="../media/image126.png"/><Relationship Id="rId18" Type="http://schemas.openxmlformats.org/officeDocument/2006/relationships/image" Target="../media/image127.png"/><Relationship Id="rId19" Type="http://schemas.openxmlformats.org/officeDocument/2006/relationships/image" Target="../media/image128.png"/><Relationship Id="rId20" Type="http://schemas.openxmlformats.org/officeDocument/2006/relationships/image" Target="../media/image129.png"/><Relationship Id="rId21" Type="http://schemas.openxmlformats.org/officeDocument/2006/relationships/image" Target="../media/image130.png"/><Relationship Id="rId22" Type="http://schemas.openxmlformats.org/officeDocument/2006/relationships/image" Target="../media/image131.png"/><Relationship Id="rId23" Type="http://schemas.openxmlformats.org/officeDocument/2006/relationships/image" Target="../media/image132.png"/><Relationship Id="rId24" Type="http://schemas.openxmlformats.org/officeDocument/2006/relationships/image" Target="../media/image1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50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141.png"/><Relationship Id="rId12" Type="http://schemas.openxmlformats.org/officeDocument/2006/relationships/image" Target="../media/image142.png"/><Relationship Id="rId13" Type="http://schemas.openxmlformats.org/officeDocument/2006/relationships/image" Target="../media/image1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155.png"/><Relationship Id="rId12" Type="http://schemas.openxmlformats.org/officeDocument/2006/relationships/image" Target="../media/image156.png"/><Relationship Id="rId13" Type="http://schemas.openxmlformats.org/officeDocument/2006/relationships/image" Target="../media/image157.png"/><Relationship Id="rId14" Type="http://schemas.openxmlformats.org/officeDocument/2006/relationships/image" Target="../media/image158.png"/><Relationship Id="rId15" Type="http://schemas.openxmlformats.org/officeDocument/2006/relationships/image" Target="../media/image159.png"/><Relationship Id="rId16" Type="http://schemas.openxmlformats.org/officeDocument/2006/relationships/image" Target="../media/image160.png"/><Relationship Id="rId17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2123628"/>
            <a:ext cx="1933575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23628"/>
            <a:ext cx="1743075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025" y="4391471"/>
            <a:ext cx="8096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950" y="4391471"/>
            <a:ext cx="62865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4391471"/>
            <a:ext cx="70485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7050" y="4391471"/>
            <a:ext cx="9239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2237928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237928"/>
            <a:ext cx="1333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5301" y="2657028"/>
            <a:ext cx="11181397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Comprehensive Statistics for Data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438971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A complete reference manual covering foundational probability, distributions, hypothesis testing framework, and fully-solved real-world analytical scenarios.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6335"/>
            <a:ext cx="5486400" cy="323492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16335"/>
            <a:ext cx="5486400" cy="323492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449835"/>
            <a:ext cx="5010150" cy="52030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449835"/>
            <a:ext cx="4781550" cy="4631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14350"/>
            <a:ext cx="32861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6525" y="2906910"/>
            <a:ext cx="501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Measures the likelihood of event occurring given that event has already occurred.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354460"/>
            <a:ext cx="400050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2430660"/>
            <a:ext cx="21145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Empirical vs Subjective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906910"/>
            <a:ext cx="4781550" cy="1006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Empirical Probability: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Based on historical observations or experimental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027289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Subjective Probability: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Based on domain knowledge, expert intuition, or personal judgment when historical trial data is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70214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Data Science Utility: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Empirical sets the base rates in machine learning, while subjective serves as prior belief in Bayesian priors.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35446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00875" y="2430660"/>
            <a:ext cx="21050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Conditional Probability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5" y="2945010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7050" y="2945010"/>
            <a:ext cx="114448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5946" y="3583185"/>
            <a:ext cx="2869406" cy="25360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15125" y="4179689"/>
            <a:ext cx="47815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Notation Rules: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represents joint probability.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4508301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Application: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Customer churn analysis given user inactivity, fraud detection given device anomalies.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912" y="2459235"/>
            <a:ext cx="1428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29550" y="4208264"/>
            <a:ext cx="857547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0112" y="457200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Probability Foundations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2925960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4046339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4589264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7012" y="2459235"/>
            <a:ext cx="21907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4198739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4527351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29160" y="3583185"/>
            <a:ext cx="2009179" cy="1964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97906"/>
            <a:ext cx="5486400" cy="28717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97906"/>
            <a:ext cx="5486400" cy="28717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4350"/>
            <a:ext cx="26193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6525" y="3088481"/>
            <a:ext cx="50101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Translates direct probability into reverse conditional probability: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4127896"/>
            <a:ext cx="50101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Where is the Prior, is Likelihood, and is Posterior probability.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2536031"/>
            <a:ext cx="400050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9675" y="2612231"/>
            <a:ext cx="25336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Direct vs Reverse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88481"/>
            <a:ext cx="47815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Direct Condition (Cause → Effect):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Calculating the likelihood of observing a symptom/event given a known cause: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845718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Reverse Condition (Effect → Cause):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Diagnosing the root cause after observing an outcome/event: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388643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Key Insight: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In analytics, we usually observe the effect (data) and need to infer the underlying cause (hypothesis).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536031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00875" y="2612231"/>
            <a:ext cx="22479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Bayes' Theorem Formula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585" y="3550443"/>
            <a:ext cx="1990129" cy="25360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6575" y="4127896"/>
            <a:ext cx="524023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7823" y="4127896"/>
            <a:ext cx="768101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3675" y="4127896"/>
            <a:ext cx="768101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640806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3545681"/>
            <a:ext cx="136460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0850" y="4088606"/>
            <a:ext cx="136460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2640806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3437" y="457200"/>
            <a:ext cx="1135856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Bayes' Theorem &amp; Inference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3107531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3864768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4407693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231"/>
            <a:ext cx="5486400" cy="3005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31231"/>
            <a:ext cx="5486400" cy="3005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4350"/>
            <a:ext cx="26193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325" y="3021806"/>
            <a:ext cx="50101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Sample space for tossing 2 fair coins: 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5325" y="3331368"/>
          <a:ext cx="5000624" cy="151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67432"/>
                <a:gridCol w="1408807"/>
                <a:gridCol w="2224385"/>
              </a:tblGrid>
              <a:tr h="37861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Heads (
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             X
 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Outcomes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Probability 
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              P
  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              (
  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              X
  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              )
             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861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{TT}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1/4 = 0.25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861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{HT, TH}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2/4 = 0.50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862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{HH}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1/4 = 0.25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231231"/>
            <a:ext cx="5486400" cy="30051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469356"/>
            <a:ext cx="400050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2545556"/>
            <a:ext cx="27717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Discrete Sample Spaces &amp; PDF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975" y="3059906"/>
            <a:ext cx="95398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0573" y="3059906"/>
            <a:ext cx="2066478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574131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3464718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7864" y="3445668"/>
            <a:ext cx="524023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437" y="457200"/>
            <a:ext cx="1135856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Distributions &amp; Probability Density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05062"/>
            <a:ext cx="3606700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2405062"/>
            <a:ext cx="3606849" cy="2657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405062"/>
            <a:ext cx="3606700" cy="2657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14350"/>
            <a:ext cx="233362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075" y="3195637"/>
            <a:ext cx="3130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Converts any normal continuous variable to standard units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075" y="4316015"/>
            <a:ext cx="31304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where and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643187"/>
            <a:ext cx="400050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2719387"/>
            <a:ext cx="13620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Key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195637"/>
            <a:ext cx="2901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Symmetrical bell-shaped curve centered at mean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38562"/>
            <a:ext cx="2901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Mean = Median = Mode at the exact center.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281487"/>
            <a:ext cx="2901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Total area under PDF curve equals 1.0 (100%).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625" y="2643187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4975" y="2719387"/>
            <a:ext cx="2343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Empirical 68-95-99.7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225" y="3195637"/>
            <a:ext cx="29019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±1σ: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68.27% of data lies within 1 std dev.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9225" y="3524250"/>
            <a:ext cx="29019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±2σ: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95.45% of data lies within 2 std dev.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9225" y="3852862"/>
            <a:ext cx="29019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±3σ: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99.73% of data lies within 3 std dev.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075" y="2643187"/>
            <a:ext cx="400050" cy="4000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80425" y="2719387"/>
            <a:ext cx="18669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Standard Normal (Z)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5475" y="3233737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5250" y="3448050"/>
            <a:ext cx="10477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2184" y="3871912"/>
            <a:ext cx="656183" cy="196453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7550" y="4325540"/>
            <a:ext cx="464939" cy="1619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59664" y="4325540"/>
            <a:ext cx="46538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2747962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4475" y="3486150"/>
            <a:ext cx="18722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5400" y="2747962"/>
            <a:ext cx="19050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0850" y="2747962"/>
            <a:ext cx="190500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4862" y="457200"/>
            <a:ext cx="1138713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Normal Distribution &amp; Empirical Rule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" y="3214687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" y="3757612"/>
            <a:ext cx="11430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" y="4300537"/>
            <a:ext cx="11430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0625" y="3214687"/>
            <a:ext cx="11430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0625" y="3543300"/>
            <a:ext cx="1143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0625" y="3871912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67557"/>
            <a:ext cx="5486400" cy="27324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67557"/>
            <a:ext cx="5486400" cy="27324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4350"/>
            <a:ext cx="261937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2605682"/>
            <a:ext cx="400050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9675" y="2681882"/>
            <a:ext cx="1876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1. Hypotheses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58132"/>
            <a:ext cx="4781550" cy="453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Null Hypothesis ( 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Status quo baseline assumption (e.g., no effect, no difference, 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26060"/>
            <a:ext cx="4781550" cy="478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Alternative Hypothesis ( 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Claim to prove (e.g., or 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318992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Significance Level ( 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Threshold for Type I error rate (commonly 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605682"/>
            <a:ext cx="40005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00875" y="2681882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2. Decision 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158132"/>
            <a:ext cx="47815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P-Value Method: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If →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Reject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(Statistically Significant). 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If →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Fail to Reject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915370"/>
            <a:ext cx="4781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Critical Value Method: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Reject if calculated test statistic lies inside critical rejection region.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7" y="2710457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9825" y="3448645"/>
            <a:ext cx="655885" cy="16311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745110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5220" y="3783210"/>
            <a:ext cx="653355" cy="18216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4022526"/>
            <a:ext cx="655885" cy="18216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338042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" y="4571404"/>
            <a:ext cx="67716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3177182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8950" y="3624857"/>
            <a:ext cx="891331" cy="1619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3934420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1850" y="4167782"/>
            <a:ext cx="213270" cy="16311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3196232"/>
            <a:ext cx="213270" cy="16311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3756" y="3624857"/>
            <a:ext cx="213270" cy="1631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3437" y="457200"/>
            <a:ext cx="1135856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Hypothesis Testing Core Framework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177182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2710457"/>
            <a:ext cx="1905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38950" y="3410545"/>
            <a:ext cx="888801" cy="1619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38425" y="3764160"/>
            <a:ext cx="213270" cy="16311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95525" y="4395192"/>
            <a:ext cx="185142" cy="857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04026" y="3410545"/>
            <a:ext cx="213270" cy="163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4350"/>
            <a:ext cx="300037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672804"/>
          <a:ext cx="11268074" cy="219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87165"/>
                <a:gridCol w="2580233"/>
                <a:gridCol w="4373612"/>
                <a:gridCol w="2227064"/>
              </a:tblGrid>
              <a:tr h="43960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Test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Sample Size / Conditions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Formula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960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One-Sample Z-Test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Continuous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Known population std dev 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σ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, large 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n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≥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30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Z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=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x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¯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−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μ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σ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/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n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60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One-Sample T-Test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Continuous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Unknown 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σ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, sample std dev 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s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, small 
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n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&lt;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30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t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=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x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¯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−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μ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s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/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n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960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Chi-Square (
         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χ
           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2
           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) Test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Categorical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Compare observed vs expected frequencies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χ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2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=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∑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(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O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−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E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 )
 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 2
 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E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ANOVA (F-Test)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Continuous Across 3+ Groups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Comparing means across multiple categorical groups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F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=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Variance Between Groups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Variance Within Groups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723" y="3242964"/>
            <a:ext cx="187672" cy="9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446" y="3214389"/>
            <a:ext cx="446633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085" y="3149054"/>
            <a:ext cx="661243" cy="2640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7073" y="3707010"/>
            <a:ext cx="187672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3921" y="3716535"/>
            <a:ext cx="66823" cy="857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0794" y="3678435"/>
            <a:ext cx="449163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1085" y="3613100"/>
            <a:ext cx="572095" cy="26402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1085" y="4077146"/>
            <a:ext cx="1251198" cy="24482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1085" y="4521993"/>
            <a:ext cx="1556891" cy="24407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8275" y="4103042"/>
            <a:ext cx="260895" cy="1928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1537" y="457200"/>
            <a:ext cx="1132046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Statistical Test Decision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8964"/>
            <a:ext cx="5486400" cy="1200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03414"/>
            <a:ext cx="5486400" cy="9834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188964"/>
            <a:ext cx="5486400" cy="13357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638996"/>
            <a:ext cx="5486400" cy="15251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4335512"/>
            <a:ext cx="51625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14350"/>
            <a:ext cx="300037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2369939"/>
            <a:ext cx="14478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2646164"/>
            <a:ext cx="51625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A manufacturer claims laptop batteries last on average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50 hours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 ) with standard deviation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5.7 hours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 ). Quality assurance samples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36 batteries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 ) and finds mean life of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48.5 hours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 ). Test claim at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3684389"/>
            <a:ext cx="16192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25" y="3960614"/>
            <a:ext cx="5162550" cy="36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(Battery life equals 50 hrs)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(Left-tailed test)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2369939"/>
            <a:ext cx="21907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3819971"/>
            <a:ext cx="191452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0325" y="4096196"/>
            <a:ext cx="5162550" cy="18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Critical Value at for left-tailed test is 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8675" y="2665214"/>
            <a:ext cx="550664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7450" y="2846189"/>
            <a:ext cx="593973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" y="3017639"/>
            <a:ext cx="449163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20938" y="3012876"/>
            <a:ext cx="577750" cy="12858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5464" y="3017639"/>
            <a:ext cx="677167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" y="3979664"/>
            <a:ext cx="906958" cy="16311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125" y="4161829"/>
            <a:ext cx="906958" cy="16311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0702" y="2893814"/>
            <a:ext cx="2019746" cy="221307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72350" y="4115246"/>
            <a:ext cx="677167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16342" y="4115246"/>
            <a:ext cx="1065162" cy="16311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2300" y="4497437"/>
            <a:ext cx="1981348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67973" y="4478387"/>
            <a:ext cx="1146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40AF"/>
                </a:solidFill>
                <a:latin typeface="Plus Jakarta Sans Black"/>
              </a:rPr>
              <a:t>Fail to Reject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1423" y="4506962"/>
            <a:ext cx="213270" cy="163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1537" y="457200"/>
            <a:ext cx="1132046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Scenario 1: Z-Test Battery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4796"/>
            <a:ext cx="5486400" cy="1200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99246"/>
            <a:ext cx="5486400" cy="9727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184796"/>
            <a:ext cx="5486400" cy="13357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634829"/>
            <a:ext cx="5486400" cy="1533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4339679"/>
            <a:ext cx="51625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14350"/>
            <a:ext cx="328612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2365771"/>
            <a:ext cx="14478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2641996"/>
            <a:ext cx="51625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A delivery service targets mean time of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20 mins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 ). A random audit of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16 deliveries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 ) shows mean and sample std dev . Test if delivery time significantly exceeds target ( 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3680221"/>
            <a:ext cx="17716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25" y="3956446"/>
            <a:ext cx="5162550" cy="35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vs (Right-tailed)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Degrees of Freedom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2365771"/>
            <a:ext cx="20288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3815804"/>
            <a:ext cx="191452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0325" y="4092029"/>
            <a:ext cx="5162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Critical value 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9500" y="2661046"/>
            <a:ext cx="550664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3025" y="2842021"/>
            <a:ext cx="449163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49438" y="2837259"/>
            <a:ext cx="911274" cy="12858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8962" y="2842021"/>
            <a:ext cx="806648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29025" y="3013471"/>
            <a:ext cx="677167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" y="3975496"/>
            <a:ext cx="906958" cy="16311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97533" y="3975496"/>
            <a:ext cx="906958" cy="16311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62150" y="4148137"/>
            <a:ext cx="1061739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63520" y="2889646"/>
            <a:ext cx="1694110" cy="22130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19950" y="4101554"/>
            <a:ext cx="2442567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2300" y="4501604"/>
            <a:ext cx="1540371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26996" y="4482554"/>
            <a:ext cx="6895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Plus Jakarta Sans Black"/>
              </a:rPr>
              <a:t>Reject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03246" y="4511129"/>
            <a:ext cx="213270" cy="163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0112" y="457200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Scenario 2: T-Test Delivery Times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2668"/>
            <a:ext cx="5486400" cy="2862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02668"/>
            <a:ext cx="5486400" cy="2862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177456"/>
            <a:ext cx="5010150" cy="5941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14350"/>
            <a:ext cx="300037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3093243"/>
            <a:ext cx="5010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Testing customer device preference (Mobile vs Desktop) across user age groups: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5325" y="3431381"/>
          <a:ext cx="5000623" cy="149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39775"/>
                <a:gridCol w="1173807"/>
                <a:gridCol w="1326356"/>
                <a:gridCol w="960685"/>
              </a:tblGrid>
              <a:tr h="37385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Age Group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Mobile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Desktop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38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&lt; 30 yrs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8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≥ 30 yrs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385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86525" y="3093243"/>
            <a:ext cx="5010150" cy="1964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1. Expected frequency formula: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327796"/>
            <a:ext cx="5010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For Mobile (&lt;30 yrs):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540793"/>
            <a:ext cx="40005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9675" y="2616993"/>
            <a:ext cx="2724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Observed vs Expected Matrix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540793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00875" y="2616993"/>
            <a:ext cx="1609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Calculation Steps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325" y="3093243"/>
            <a:ext cx="1361628" cy="19645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5725" y="3333154"/>
            <a:ext cx="1071116" cy="17740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0066" y="3723084"/>
            <a:ext cx="3141166" cy="24482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4282231"/>
            <a:ext cx="2196107" cy="23217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287" y="2645568"/>
            <a:ext cx="2381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5112" y="2645568"/>
            <a:ext cx="14287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1537" y="457200"/>
            <a:ext cx="1132046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Scenario 3: Chi-Square Test of Independence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6800"/>
            <a:ext cx="5181600" cy="17018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2949"/>
            <a:ext cx="5181600" cy="170184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99099"/>
            <a:ext cx="5181600" cy="1701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"/>
            <a:ext cx="54406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Analytics Stack Guide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1304925"/>
            <a:ext cx="4705350" cy="2000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Space Grotesk"/>
              </a:rPr>
              <a:t> Python (SciPy &amp; Statsmodels)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1504950"/>
            <a:ext cx="47053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Primary tool for executing full hypothesis testing, calculating p-values, and automated statistical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121074"/>
            <a:ext cx="4705350" cy="2000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Space Grotesk"/>
              </a:rPr>
              <a:t>SQL Databases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3321099"/>
            <a:ext cx="47053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Ideal for aggregating raw counts, computing sample means, standard deviations, and contingency matrices.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4937224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Space Grotesk"/>
              </a:rPr>
              <a:t> Excel &amp; 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5137249"/>
            <a:ext cx="47053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Utilize built-in DAX and Excel statistical functions (e.g.,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Z.TEST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T.TEST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CHISQ.TEST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132397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140124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2218"/>
            <a:ext cx="3606700" cy="2443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2512218"/>
            <a:ext cx="3606849" cy="2443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512218"/>
            <a:ext cx="3606700" cy="24431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075" y="3731418"/>
            <a:ext cx="313045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14350"/>
            <a:ext cx="19526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075" y="3378993"/>
            <a:ext cx="3130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"If the p-value is low, the null must go!"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750343"/>
            <a:ext cx="400050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2826543"/>
            <a:ext cx="9334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Key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02793"/>
            <a:ext cx="2901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Define clear null and alternative hypotheses.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45718"/>
            <a:ext cx="2901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Verify sample size and population std dev knowledge.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388643"/>
            <a:ext cx="29018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Pick test: Z, T, Chi-Square, or ANOVA.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0625" y="2750343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4975" y="2826543"/>
            <a:ext cx="14763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Common Pitfalls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225" y="3302793"/>
            <a:ext cx="29019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Confusing Type I ( ) and Type II ( ) errors.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9225" y="3845718"/>
            <a:ext cx="29019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Using Z-test when sample size is small and is unknown.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9225" y="4388643"/>
            <a:ext cx="29019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Ignoring non-normality in small samples.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075" y="2750343"/>
            <a:ext cx="400050" cy="4000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80425" y="2826543"/>
            <a:ext cx="10858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Space Grotesk"/>
              </a:rPr>
              <a:t>Golden Rule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855118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5400" y="2855118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7475" y="3378993"/>
            <a:ext cx="185142" cy="857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8442" y="3340893"/>
            <a:ext cx="182612" cy="1619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9225" y="4126706"/>
            <a:ext cx="187672" cy="952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0375" y="2855118"/>
            <a:ext cx="17145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6762" y="457200"/>
            <a:ext cx="1142523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Reference Summary Sheet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325" y="3321843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325" y="3864768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325" y="4407693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0625" y="3321843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0625" y="3864768"/>
            <a:ext cx="11430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0625" y="4407693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90837"/>
            <a:ext cx="112776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29037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729037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7181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2575" y="3033712"/>
            <a:ext cx="101822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https://upload.wikimedia.org/wikipedia/commons/thumb/8/8c/Standard_deviation_diagram.svg/1280px-Standard_deviation_diagram.svg.png?utm_source=en.wikipedia.org&amp;utm_campaign=index&amp;utm_content=thumbnail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2575" y="3386137"/>
            <a:ext cx="101822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en.wikipedia.org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195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2575" y="3881437"/>
            <a:ext cx="101822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https://media.istockphoto.com/id/2148562711/photo/two-businesspeople-or-an-accountant-team-are-analyzing-data-charts-graphs-and-a-dashboard-on.jpg?s=612x612&amp;w=0&amp;k=20&amp;c=TbJ5yeFFk3FEtIdzHPN40ebmlUwH4B0ukAEFiEo1gmM=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2575" y="4233862"/>
            <a:ext cx="101822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"/>
            <a:ext cx="1173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