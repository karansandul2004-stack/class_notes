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&amp; Hypothesis Testing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Class Notes — Probability Types, Conditional Probability, Bayes' Theorem, Distributions &amp; Hypothesis 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4C8"/>
                </a:solidFill>
              </a:rPr>
              <a:t>Compiled for Data Analysis Interview Prep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Types of Probability — Empirical &amp; Subjective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Conditional Probability — Direct &amp; Reverse Conditions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Bayes' Theorem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Probability Distributions &amp; PDF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Normal Distribution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Hypothesis Testing — Core Concepts &amp; Test Types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Worked Examples — Z-test &amp; T-test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Practice Problems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 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</a:rPr>
              <a:t>Types of Probability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Empirical Probability (Experimental Probability)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2222"/>
                </a:solidFill>
              </a:rPr>
              <a:t>Based on actual experiments or historical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P(E) = Number of times event occurred / Total trials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Example: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You toss a coin 100 times and get 60 heads.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P(Heads) = 60/100 = 0.6</a:t>
            </a:r>
            <a:endParaRPr lang="en-US" sz="16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F8A70"/>
                </a:solidFill>
              </a:rPr>
              <a:t>Used when: We observe outcomes from experiments or real-world data.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Subjective Probability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Based on personal belief, intuition, or experience — not actual data.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Example: A doctor says, "I think there's a 90% chance this patient will recover."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Example: A cricket fan believes India has a 70% chance of winning.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1F8A70"/>
                </a:solidFill>
              </a:rPr>
              <a:t>Used when: There's no data or experiment — just expert judgment.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 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</a:rPr>
              <a:t>Conditional Probability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Conditional Probability — Definition &amp; Examples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Conditional probability is the probability of an event occurring given that another event has already happened.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helps us determine how likely one event is, knowing that another related event has already occurred.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Common Examples: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P(Rain | Cloudy)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P(Positive Test Result | Has Disease)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P(Drawing a King | First Card is a King)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P(Buys Product B | Bought Product A)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P(Win Game | Lead at Halftime)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P(Pass Exam | Studies Regularly)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P(Accident Occurs | Heavy Traffic)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P(Spam Email | Contains "Free")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Direct Condition (Normal Conditional Probability)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1. A direct condition means the condition (the "given" part) is already known or stated in the question.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2. In a direct condition, we move from cause to effect (forward direction).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3. It represents the probability of an event occurring under a known condition.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0" y="278892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P(B|A) = P(A ∩ B) / P(A)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 direct conditional probability when the question says: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000000"/>
                </a:solidFill>
              </a:rPr>
              <a:t>"Given that A happens, find the probability of B."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8A70"/>
                </a:solidFill>
              </a:rPr>
              <a:t>Example: Given that a student is a girl, what is the probability she studies computer science? → P(C|G)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Reverse Condition (Bayes' Theorem Condition)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1. A reverse condition means the result (effect) is known, and we need to find which cause led to it.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2. In a reverse condition, we move from effect to cause (backward direction).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3. It represents the probability of a cause given that an effect has occurred.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0" y="27889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0360" y="27889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 = [P(B|A) × P(A)] / P(B)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 Bayes' theorem when the question says: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000000"/>
                </a:solidFill>
              </a:rPr>
              <a:t>"Given that B happens, find the probability that A was the reason."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8A70"/>
                </a:solidFill>
              </a:rPr>
              <a:t>Example: Given that a part is defective, what is the probability it came from Supplier A? → P(A|D)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One-line meaning: In a reverse condition, we start with the observed effect and work backward to find the most probable cause.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Bayes' Theorem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EEA"/>
                </a:solidFill>
              </a:rPr>
              <a:t>It describes the probability of an event, based on the prior knowledge of conditions that might be related to the event.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0360" y="29260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P(A|B) = P(B|A) P(A) / P(B)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 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</a:rPr>
              <a:t>Probability Distribution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Probability Distribution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A probability distribution is a table that represents how probabilities are assigned to a particular possible outcome of an experiment.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Sample Space: set of all possible outcomes of a random phenomenon.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</a:rPr>
              <a:t>1 Coin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SS = {H, T}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X = {0, 1}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 = {1/2, 1/2}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3931920" cy="82296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</a:rPr>
              <a:t>2 Coins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26974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SS = {HH, TT, HT, TH}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X = {0, 1, 2}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 = {1/4, 2/4, 1/4}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3931920"/>
          <a:ext cx="4846320" cy="822960"/>
        </p:xfrm>
        <a:graphic>
          <a:graphicData uri="http://schemas.openxmlformats.org/drawingml/2006/table">
            <a:tbl>
              <a:tblPr/>
              <a:tblGrid>
                <a:gridCol w="1211580"/>
                <a:gridCol w="1211580"/>
                <a:gridCol w="1211580"/>
                <a:gridCol w="12115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Probability Distribution Function (PDF)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Suppose you have a large amount of data and a large sample space — you'd have a large distribution table.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In that case, we use a mathematical function to map the relationship between X (possible outcomes) and Pr (probability).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We can plot a graph using this relationship.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F8A70"/>
                </a:solidFill>
              </a:rPr>
              <a:t>So, PDF is a mathematical function F(X) used to find the relationship between X and Pr.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 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</a:rPr>
              <a:t>Normal Distribution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Normal Distribution (Gaussian Distribution)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One of the most important and widely used continuous probability distributions in statistics and data science.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Describes data that clusters around a central value with no bias left or right.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22222"/>
                </a:solidFill>
              </a:rPr>
              <a:t>Key Characteristics: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Bell-Shaped Curve: symmetric and bell-shaped graph.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Parameters: Mean (μ) determines the center; Standard Deviation (σ) controls the spread.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Symmetry: perfectly symmetrical about the mean.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Tails: approach, but never touch, the horizontal axis.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 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</a:rPr>
              <a:t>Hypothesis Testing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Hypothesis Testing — Core Concepts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Null Hypothesis (H0): default assumption of no effect or no difference.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Alternative Hypothesis (H1 / Ha): the claim being tested — there IS an effect or difference.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Test Statistic: a number from sample data that helps decide whether to reject H0.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P-value: probability of results at least as extreme as observed, assuming H0 is true.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Confidence Interval (CI): range of values likely to contain the population parameter.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Significance Level (α): threshold (commonly 0.05) below which H0 is rejected.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8A70"/>
                </a:solidFill>
              </a:rPr>
              <a:t>Conclusion: if p-value &lt; α → reject H0; if p-value ≥ α → do not reject H0.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Types of Hypothesis Testing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38912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Use When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Z-test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Large sample (n ≥ 30), σ (population std dev) known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T-test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Small sample (n &lt; 30), σ unknown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Chi-square 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Testing categorical variables — goodness-of-fit or independence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ANOVA (F-test)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Comparing 3 or more group means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Proportion 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Testing hypotheses about population proportions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Non-parametric tests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Data is not normal or ordinal (e.g., Mann-Whitney U, Wilcoxon)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 6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</a:rPr>
              <a:t>Worked Examples — Z-test &amp; T-test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Worked Problem — Z-test (Laptop Battery Life)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 laptop manufacturer claims average battery life is 8 hours.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 reviewer believes the true mean battery life is different from 8 hours.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Sample: n = 40 laptops, sample mean = 7.7 hours.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Population standard deviation (σ) known = 1.2 hours.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Significance level: α = 0.10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8A70"/>
                </a:solidFill>
              </a:rPr>
              <a:t>Task: Test the manufacturer's claim using the rejection-region approach.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Z-test Solution — Step by Step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Step 1 — Hypotheses (Two-tailed, since we check for "different"):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0" y="1417320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1417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H0: μ = 8      H1: μ ≠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Step 2 — Test Statistic: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9418320" cy="594360"/>
          </a:xfrm>
          <a:prstGeom prst="roundRect">
            <a:avLst>
              <a:gd name="adj" fmla="val 12308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5603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(X̄ − μ0) / (σ / sqrt(n)) = (7.7 − 8) / (1.2 / sqrt(40))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sqrt(40) ≈ 6.3246,   σ/sqrt(n) = 1.2/6.3246 ≈ 0.18974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Z ≈ −0.3 / 0.18974 ≈ −1.581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Step 3 — Rejection Region (α = 0.10, two-tailed):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Critical Z ≈ ±1.645. Since |−1.581| &lt; 1.645, the test statistic does NOT fall in the rejection region.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530352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E7F5EF"/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53035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0"/>
                </a:solidFill>
              </a:rPr>
              <a:t>Conclusion: Fail to Reject H0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T-Test (Unknown Population Std Dev)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 the t-test when the population standard deviation is NOT known (typically with small samples, n &lt; 30).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Step-by-step formula: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214884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2148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= (x̄ − μ) / (s / sqrt(n))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Where: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s = sample standard deviation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n = sample size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df = n − 1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Find the p-value using the t-distribution table or a calculator, and compare against the critical t-value.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T-test Worked Example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Assume from your data: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1463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x̄ = 210,   s = 25,   n = 30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Then: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2651760"/>
            <a:ext cx="9235440" cy="640080"/>
          </a:xfrm>
          <a:prstGeom prst="roundRect">
            <a:avLst>
              <a:gd name="adj" fmla="val 11429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2651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= (210 − 200) / (25 / sqrt(30)) = 10 / 4.56 = 2.19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Compare: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388620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EF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3886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t_calc = 2.19  &gt;  t_critical = 2.045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475488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E7F5EF"/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47548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8A70"/>
                </a:solidFill>
              </a:rPr>
              <a:t>Conclusion: Reject H0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 7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</a:rPr>
              <a:t>Practice Problems — Z-tests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Z-test Practice Problems (σ known, large sample)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1. Two-tailed: H0: μ=50 vs H1: μ≠50. n=40, mean=53, σ=8, α=0.05.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2. Right-tailed: H0: μ≤25 vs H1: μ&gt;25. n=60, mean=27.4, σ=3.5, α=0.01.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3. Left-tailed: H0: μ≥200 vs H1: μ&lt;200. n=100, mean=199, σ=10, α=0.05.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4. Proportion (two-tailed): H0: p=0.50 vs H1: p≠0.50. n=500, x=260 (p̂=0.52), α=0.05.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5. Left-tailed (borderline n&gt;30): H0: μ=21 vs H1: μ&lt;21. n=35, mean=20.6, σ=4, α=0.10.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8A70"/>
                </a:solidFill>
              </a:rPr>
              <a:t>Bonus — LED bulb problem: manufacturer claims mean lifespan 1,200 hrs; sample n=50, mean=1,170 hrs, σ=100 hrs, α=0.05. Test if actual mean differs from 1,200.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End of Notes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A441"/>
                </a:solidFill>
              </a:rPr>
              <a:t>Compiled from class slide screenshots — Probability types, Conditional Probability, Bayes' Theorem, Distributions, and Hypothesis Testing.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2026-08-22T13:09:35Z</dcterms:created>
  <dcterms:modified xsi:type="dcterms:W3CDTF">2026-08-22T13:09:35Z</dcterms:modified>
</cp:coreProperties>
</file>